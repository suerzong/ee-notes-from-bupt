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6" r:id="rId2"/>
    <p:sldId id="312" r:id="rId3"/>
    <p:sldId id="313" r:id="rId4"/>
    <p:sldId id="314" r:id="rId5"/>
    <p:sldId id="307" r:id="rId6"/>
    <p:sldId id="317" r:id="rId7"/>
    <p:sldId id="315" r:id="rId8"/>
    <p:sldId id="316" r:id="rId9"/>
    <p:sldId id="310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7"/>
            <p14:sldId id="315"/>
            <p14:sldId id="316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899A9B5-1C3D-4486-9C6A-A447764D6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944613" y="2303983"/>
            <a:ext cx="28083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条件控制结构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967EA09-F3F1-4D25-8590-C47214172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2DD8068-0568-4B05-84DB-658A0D8B1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013BE167-0B8F-46E9-B9CF-DC167B94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92" y="752696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1.1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单分支结构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xmlns="" id="{EDA9E358-D5CB-4DA4-A4B1-FA992D798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969" y="1367879"/>
            <a:ext cx="27147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xmlns="" id="{BEED7BB3-AC95-4846-9B5F-7440DD5CD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156919"/>
              </p:ext>
            </p:extLst>
          </p:nvPr>
        </p:nvGraphicFramePr>
        <p:xfrm>
          <a:off x="4036162" y="1214361"/>
          <a:ext cx="1703388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Visio" r:id="rId4" imgW="1695397" imgH="2466923" progId="Visio.Drawing.6">
                  <p:embed/>
                </p:oleObj>
              </mc:Choice>
              <mc:Fallback>
                <p:oleObj name="Visio" r:id="rId4" imgW="1695397" imgH="2466923" progId="Visio.Drawing.6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6162" y="1214361"/>
                        <a:ext cx="1703388" cy="247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05147354-9F27-4092-86E0-B93150320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xmlns="" id="{DA671A2D-7332-418A-B8CF-27971E158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xmlns="" id="{445AE961-580E-4321-9197-4ABBDBEE6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92" y="786954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1.2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双分支结构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xmlns="" id="{967CC050-129E-48EE-AD8D-3A378E04B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758" y="1364484"/>
            <a:ext cx="27147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xmlns="" id="{12FBB471-8EB7-43A9-B272-680060822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999094"/>
              </p:ext>
            </p:extLst>
          </p:nvPr>
        </p:nvGraphicFramePr>
        <p:xfrm>
          <a:off x="3710710" y="1491256"/>
          <a:ext cx="2736850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Visio" r:id="rId4" imgW="2781262" imgH="2466923" progId="Visio.Drawing.6">
                  <p:embed/>
                </p:oleObj>
              </mc:Choice>
              <mc:Fallback>
                <p:oleObj name="Visio" r:id="rId4" imgW="2781262" imgH="2466923" progId="Visio.Drawing.6">
                  <p:embed/>
                  <p:pic>
                    <p:nvPicPr>
                      <p:cNvPr id="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0710" y="1491256"/>
                        <a:ext cx="2736850" cy="242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xmlns="" id="{F08A3BEF-0EC1-4DEC-9564-4FD23D40C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5" name="Rectangle 2">
            <a:extLst>
              <a:ext uri="{FF2B5EF4-FFF2-40B4-BE49-F238E27FC236}">
                <a16:creationId xmlns:a16="http://schemas.microsoft.com/office/drawing/2014/main" xmlns="" id="{46530A2E-B132-4914-9C92-CE1A76B35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6" name="Rectangle 9">
            <a:extLst>
              <a:ext uri="{FF2B5EF4-FFF2-40B4-BE49-F238E27FC236}">
                <a16:creationId xmlns:a16="http://schemas.microsoft.com/office/drawing/2014/main" xmlns="" id="{C0534DD1-3112-4DA7-8335-AF92C1706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69" y="752696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1.3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多分支结构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7" name="Text Box 8">
            <a:extLst>
              <a:ext uri="{FF2B5EF4-FFF2-40B4-BE49-F238E27FC236}">
                <a16:creationId xmlns:a16="http://schemas.microsoft.com/office/drawing/2014/main" xmlns="" id="{105C8BED-794B-460E-A730-4B1CB7002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336762"/>
            <a:ext cx="2714741" cy="4327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elseif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表达式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2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elseif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表达式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3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  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……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语句组</a:t>
            </a:r>
            <a:r>
              <a:rPr lang="en-US" altLang="zh-CN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endParaRPr lang="en-US" altLang="zh-CN" sz="2400" kern="0" dirty="0">
              <a:solidFill>
                <a:srgbClr val="000000"/>
              </a:solidFill>
              <a:latin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49" name="Object 16">
            <a:extLst>
              <a:ext uri="{FF2B5EF4-FFF2-40B4-BE49-F238E27FC236}">
                <a16:creationId xmlns:a16="http://schemas.microsoft.com/office/drawing/2014/main" xmlns="" id="{6C007F92-2814-4D9F-8592-668FA44F5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515897"/>
              </p:ext>
            </p:extLst>
          </p:nvPr>
        </p:nvGraphicFramePr>
        <p:xfrm>
          <a:off x="3224921" y="1262396"/>
          <a:ext cx="3851275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Visio" r:id="rId4" imgW="4000597" imgH="3076703" progId="Visio.Drawing.6">
                  <p:embed/>
                </p:oleObj>
              </mc:Choice>
              <mc:Fallback>
                <p:oleObj name="Visio" r:id="rId4" imgW="4000597" imgH="3076703" progId="Visio.Drawing.6">
                  <p:embed/>
                  <p:pic>
                    <p:nvPicPr>
                      <p:cNvPr id="15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921" y="1262396"/>
                        <a:ext cx="3851275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CF9ABF5-7952-4FC1-BFE0-EF25CF2FC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8630E371-A480-4A9F-8361-224187C72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10" y="1439887"/>
            <a:ext cx="2664296" cy="2562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n=input(‘n=‘);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rem(n,2)==0;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A=‘even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A=‘odd’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0" name="Text Box 0">
            <a:extLst>
              <a:ext uri="{FF2B5EF4-FFF2-40B4-BE49-F238E27FC236}">
                <a16:creationId xmlns:a16="http://schemas.microsoft.com/office/drawing/2014/main" xmlns="" id="{E8906280-0EF9-47B1-903F-8735DCD44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517" y="4002448"/>
            <a:ext cx="556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思考：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为什么不键入任何数直接回车程序会判断为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odd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？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14DF91F6-CFB1-47B8-AFD0-62100165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4715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4.2-1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判断一个数的奇偶性。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F6397CDE-A0E0-480A-9E62-8AE398E54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957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xmlns="" id="{87104FFA-D989-463E-B737-F6F861CA6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0" name="Text Box 4">
            <a:extLst>
              <a:ext uri="{FF2B5EF4-FFF2-40B4-BE49-F238E27FC236}">
                <a16:creationId xmlns:a16="http://schemas.microsoft.com/office/drawing/2014/main" xmlns="" id="{72311BA4-6EAF-43D5-B58C-EC83C5D6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860300"/>
            <a:ext cx="6046387" cy="45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可使程序在不同的情况下进行相应的操作。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xmlns="" id="{0C30851C-D1AB-4E2C-ADAE-E49BC0C06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71DD63A8-6756-4255-9F05-50400094DB1E}"/>
              </a:ext>
            </a:extLst>
          </p:cNvPr>
          <p:cNvGrpSpPr/>
          <p:nvPr/>
        </p:nvGrpSpPr>
        <p:grpSpPr>
          <a:xfrm>
            <a:off x="1510227" y="1435635"/>
            <a:ext cx="4679950" cy="3722289"/>
            <a:chOff x="1510227" y="1435635"/>
            <a:chExt cx="4679950" cy="3722289"/>
          </a:xfrm>
        </p:grpSpPr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xmlns="" id="{B04ED0A4-7111-4EB1-991B-554C55EE5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227" y="1435635"/>
              <a:ext cx="46799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switch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表达式（标量或字符串）</a:t>
              </a:r>
              <a:endPara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endParaRP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xmlns="" id="{31CF204B-1A86-4256-912C-CB39C3EE8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615" y="1823357"/>
              <a:ext cx="16557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case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值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xmlns="" id="{7CABE75E-07F9-4B3C-B971-47C2FD7D4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924" y="2279833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xmlns="" id="{64597408-F4B2-46D7-81BC-5E8702317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6615" y="2670979"/>
              <a:ext cx="16557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case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值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2" name="Text Box 8">
              <a:extLst>
                <a:ext uri="{FF2B5EF4-FFF2-40B4-BE49-F238E27FC236}">
                  <a16:creationId xmlns:a16="http://schemas.microsoft.com/office/drawing/2014/main" xmlns="" id="{415FF3E9-E7FC-4021-8161-22CEC1866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1329" y="3160166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xmlns="" id="{FB70B8E3-18F9-45C3-A2C5-8B6EEC074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911" y="3889050"/>
              <a:ext cx="16557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otherwise</a:t>
              </a:r>
            </a:p>
          </p:txBody>
        </p:sp>
        <p:sp>
          <p:nvSpPr>
            <p:cNvPr id="34" name="Text Box 10">
              <a:extLst>
                <a:ext uri="{FF2B5EF4-FFF2-40B4-BE49-F238E27FC236}">
                  <a16:creationId xmlns:a16="http://schemas.microsoft.com/office/drawing/2014/main" xmlns="" id="{185BE850-48EF-42B7-80CD-861EBCF25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363" y="4355775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语句组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</a:p>
          </p:txBody>
        </p:sp>
        <p:sp>
          <p:nvSpPr>
            <p:cNvPr id="35" name="Text Box 11">
              <a:extLst>
                <a:ext uri="{FF2B5EF4-FFF2-40B4-BE49-F238E27FC236}">
                  <a16:creationId xmlns:a16="http://schemas.microsoft.com/office/drawing/2014/main" xmlns="" id="{62A97B89-1317-45E6-A83C-D2BB575DD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439" y="3505115"/>
              <a:ext cx="16557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  <a:latin typeface="+mn-ea"/>
                  <a:ea typeface="+mn-ea"/>
                  <a:sym typeface="Symbol" panose="05050102010706020507" pitchFamily="18" charset="2"/>
                </a:rPr>
                <a:t>……</a:t>
              </a:r>
            </a:p>
          </p:txBody>
        </p:sp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xmlns="" id="{37DC4189-DAB3-44AD-8461-7D8F565A3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8465" y="4700724"/>
              <a:ext cx="15113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44BFBD23-E616-43AC-9122-C586C2C9B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EEE09780-388D-46CF-9503-971B7CEA4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621" y="1349367"/>
            <a:ext cx="2951163" cy="4327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clear all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n=input(‘n= ’)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 rem(n,2)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 1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A=‘odd’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 0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A=‘even’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otherwise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A=‘empty’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xmlns="" id="{8DCB70F4-8CB5-48AF-B893-A9617F552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4715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4.2-2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判断一个数的奇偶性。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xmlns="" id="{C25A3AC2-2B5E-427C-BED1-533A07FC1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79876"/>
            <a:ext cx="4896544" cy="7546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0" u="none" kern="1200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switch-case</a:t>
            </a:r>
            <a:r>
              <a:rPr lang="zh-CN" altLang="en-US" sz="2800" b="1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条件控制结构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2370E624-FB62-42AA-95EA-E67A702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C7508B6F-27B9-4939-8798-697A8DD6C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475</TotalTime>
  <Words>225</Words>
  <Application>Microsoft Office PowerPoint</Application>
  <PresentationFormat>自定义</PresentationFormat>
  <Paragraphs>60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Visio</vt:lpstr>
      <vt:lpstr>PowerPoint 演示文稿</vt:lpstr>
      <vt:lpstr>主要内容</vt:lpstr>
      <vt:lpstr>1. if条件控制结构</vt:lpstr>
      <vt:lpstr>1. if条件控制结构</vt:lpstr>
      <vt:lpstr>1. if条件控制结构</vt:lpstr>
      <vt:lpstr>1. if条件控制结构</vt:lpstr>
      <vt:lpstr>2. switch-case条件控制结构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343</cp:revision>
  <dcterms:created xsi:type="dcterms:W3CDTF">2016-01-02T09:31:00Z</dcterms:created>
  <dcterms:modified xsi:type="dcterms:W3CDTF">2019-02-20T01:51:55Z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