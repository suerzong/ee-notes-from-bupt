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06" r:id="rId2"/>
    <p:sldId id="312" r:id="rId3"/>
    <p:sldId id="307" r:id="rId4"/>
    <p:sldId id="313" r:id="rId5"/>
    <p:sldId id="309" r:id="rId6"/>
    <p:sldId id="314" r:id="rId7"/>
    <p:sldId id="315" r:id="rId8"/>
    <p:sldId id="316" r:id="rId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3"/>
            <p14:sldId id="309"/>
            <p14:sldId id="314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2021/3/8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76D595EC-6541-40C2-BF45-35AD30F02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33206" y="2375991"/>
            <a:ext cx="3600400" cy="6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矩阵的算术运算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88258C8C-E9D5-4C6B-9A94-B6CAD1124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544616" cy="11521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的基本算术运算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的点（元素群）运算</a:t>
            </a: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A5F9797F-573D-4E2B-AAB6-66ADB4EF3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矩阵的基本算术运算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A6C4B8D2-4450-4CA7-8B74-F0DC534E149F}"/>
              </a:ext>
            </a:extLst>
          </p:cNvPr>
          <p:cNvGrpSpPr/>
          <p:nvPr/>
        </p:nvGrpSpPr>
        <p:grpSpPr>
          <a:xfrm>
            <a:off x="1298109" y="1830425"/>
            <a:ext cx="2080349" cy="483358"/>
            <a:chOff x="1298109" y="1830425"/>
            <a:chExt cx="2080349" cy="483358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1298109" y="1830425"/>
              <a:ext cx="126094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kern="0" dirty="0">
                  <a:solidFill>
                    <a:srgbClr val="0000FF"/>
                  </a:solidFill>
                  <a:latin typeface="+mn-ea"/>
                  <a:ea typeface="+mn-ea"/>
                </a:rPr>
                <a:t>运算符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：</a:t>
              </a:r>
            </a:p>
          </p:txBody>
        </p:sp>
        <p:grpSp>
          <p:nvGrpSpPr>
            <p:cNvPr id="9" name="Group 3"/>
            <p:cNvGrpSpPr>
              <a:grpSpLocks/>
            </p:cNvGrpSpPr>
            <p:nvPr/>
          </p:nvGrpSpPr>
          <p:grpSpPr bwMode="auto">
            <a:xfrm>
              <a:off x="2535495" y="1851821"/>
              <a:ext cx="842963" cy="461962"/>
              <a:chOff x="934" y="1247"/>
              <a:chExt cx="531" cy="291"/>
            </a:xfrm>
          </p:grpSpPr>
          <p:sp>
            <p:nvSpPr>
              <p:cNvPr id="10" name="Text Box 0"/>
              <p:cNvSpPr txBox="1">
                <a:spLocks noChangeArrowheads="1"/>
              </p:cNvSpPr>
              <p:nvPr/>
            </p:nvSpPr>
            <p:spPr bwMode="auto">
              <a:xfrm>
                <a:off x="934" y="1247"/>
                <a:ext cx="53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   B</a:t>
                </a:r>
              </a:p>
            </p:txBody>
          </p:sp>
          <p:graphicFrame>
            <p:nvGraphicFramePr>
              <p:cNvPr id="11" name="Object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1756131"/>
                  </p:ext>
                </p:extLst>
              </p:nvPr>
            </p:nvGraphicFramePr>
            <p:xfrm>
              <a:off x="1111" y="1253"/>
              <a:ext cx="208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5" name="Equation" r:id="rId4" imgW="139680" imgH="152280" progId="Equation.DSMT4">
                      <p:embed/>
                    </p:oleObj>
                  </mc:Choice>
                  <mc:Fallback>
                    <p:oleObj name="Equation" r:id="rId4" imgW="139680" imgH="1522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1" y="1253"/>
                            <a:ext cx="208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1E099603-5848-46C4-A4B5-10A4A7834F15}"/>
              </a:ext>
            </a:extLst>
          </p:cNvPr>
          <p:cNvGrpSpPr/>
          <p:nvPr/>
        </p:nvGrpSpPr>
        <p:grpSpPr>
          <a:xfrm>
            <a:off x="1091901" y="2797798"/>
            <a:ext cx="5069016" cy="893279"/>
            <a:chOff x="1091901" y="2797798"/>
            <a:chExt cx="5069016" cy="893279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091901" y="2797798"/>
              <a:ext cx="50690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+mn-ea"/>
                  <a:ea typeface="+mn-ea"/>
                </a:rPr>
                <a:t>检查矩阵阶数的语句：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[</a:t>
              </a:r>
              <a:r>
                <a:rPr lang="en-US" altLang="zh-CN" sz="2400" b="1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n,m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]=size(A)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4195725" y="3229412"/>
              <a:ext cx="169309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l=length(A)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9">
            <a:extLst>
              <a:ext uri="{FF2B5EF4-FFF2-40B4-BE49-F238E27FC236}">
                <a16:creationId xmlns="" xmlns:a16="http://schemas.microsoft.com/office/drawing/2014/main" id="{4E9A96B7-EDC0-41C2-B86F-303F6151C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240" y="869585"/>
            <a:ext cx="5444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加、减、乘、除（左除，右除）、乘方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="" xmlns:a16="http://schemas.microsoft.com/office/drawing/2014/main" id="{0B70F72B-CD73-4AD9-AF30-3508AF546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69" y="1339968"/>
            <a:ext cx="4130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1.1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矩阵的加、减运算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="" xmlns:a16="http://schemas.microsoft.com/office/drawing/2014/main" id="{2506526D-7B71-48FA-99D3-1F551720C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901" y="2304152"/>
            <a:ext cx="516052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：要求相加减的矩阵阶数相同。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04BF45C8-992A-41EF-B261-A71412731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A5D86156-B241-4E5B-9651-246F00A3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94978"/>
            <a:ext cx="38884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的基本算术运算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="" xmlns:a16="http://schemas.microsoft.com/office/drawing/2014/main" id="{8BABC14D-9BF7-41BF-92BB-3ACE0AD54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823" y="1295210"/>
            <a:ext cx="2380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运算符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A*B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="" xmlns:a16="http://schemas.microsoft.com/office/drawing/2014/main" id="{C5EDC7D1-E96B-41EE-BA76-15BD08698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594" y="1804466"/>
            <a:ext cx="64924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注意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要求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的列数与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的行数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内阶数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相等。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="" xmlns:a16="http://schemas.microsoft.com/office/drawing/2014/main" id="{E203AA53-E955-41FC-80FA-755F6BA3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" y="808709"/>
            <a:ext cx="2972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1.2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矩阵的乘法运算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="" xmlns:a16="http://schemas.microsoft.com/office/drawing/2014/main" id="{B9A2B823-463B-4517-A195-62870D3DC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727" y="2841065"/>
            <a:ext cx="2129360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左除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="" xmlns:a16="http://schemas.microsoft.com/office/drawing/2014/main" id="{D9EFEF8C-30B0-4700-BAE4-26BA0318A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822" y="3282916"/>
            <a:ext cx="2129360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右除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Text Box 5">
            <a:extLst>
              <a:ext uri="{FF2B5EF4-FFF2-40B4-BE49-F238E27FC236}">
                <a16:creationId xmlns="" xmlns:a16="http://schemas.microsoft.com/office/drawing/2014/main" id="{1E960F9F-BD60-4992-A7A2-E0D0D3908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594" y="3708604"/>
            <a:ext cx="6048375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注意：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左除时要求两矩阵的行数必须相等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,   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右除时要求两矩阵的列数必须相等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="" xmlns:a16="http://schemas.microsoft.com/office/drawing/2014/main" id="{AB52FEAF-1D97-4789-9F3D-8F2C1CBB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" y="2354031"/>
            <a:ext cx="2972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1.3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矩阵的除法运算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56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0" grpId="0"/>
      <p:bldP spid="21" grpId="0"/>
      <p:bldP spid="2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="" xmlns:a16="http://schemas.microsoft.com/office/drawing/2014/main" id="{B043FD48-690C-48F8-9518-46641D595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EC8D66E9-24B9-4DD2-B131-F2B8828A748C}"/>
              </a:ext>
            </a:extLst>
          </p:cNvPr>
          <p:cNvGrpSpPr/>
          <p:nvPr/>
        </p:nvGrpSpPr>
        <p:grpSpPr>
          <a:xfrm>
            <a:off x="1080517" y="1290877"/>
            <a:ext cx="3130926" cy="486485"/>
            <a:chOff x="1080517" y="1290877"/>
            <a:chExt cx="3130926" cy="486485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080517" y="1290877"/>
              <a:ext cx="15113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运算符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：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" name="Text Box 1024"/>
            <p:cNvSpPr txBox="1">
              <a:spLocks noChangeArrowheads="1"/>
            </p:cNvSpPr>
            <p:nvPr/>
          </p:nvSpPr>
          <p:spPr bwMode="auto">
            <a:xfrm>
              <a:off x="2266756" y="1315697"/>
              <a:ext cx="19446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矩阵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^</a:t>
              </a:r>
              <a:r>
                <a:rPr lang="zh-CN" altLang="en-US" sz="2400" b="1" dirty="0" smtClean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幂</a:t>
              </a:r>
              <a:r>
                <a:rPr lang="zh-CN" altLang="en-US" sz="2400" b="1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次</a:t>
              </a:r>
              <a:endParaRPr lang="en-US" altLang="zh-CN" sz="2400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="" xmlns:a16="http://schemas.microsoft.com/office/drawing/2014/main" id="{A830055D-E61C-41FD-ADB9-2BF889925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94978"/>
            <a:ext cx="392301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的基本算术运算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="" xmlns:a16="http://schemas.microsoft.com/office/drawing/2014/main" id="{274EEBFD-89C3-45F1-9337-7B1F5EF4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" y="808709"/>
            <a:ext cx="2972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1.4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矩阵的乘方运算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Text Box 14">
            <a:extLst>
              <a:ext uri="{FF2B5EF4-FFF2-40B4-BE49-F238E27FC236}">
                <a16:creationId xmlns="" xmlns:a16="http://schemas.microsoft.com/office/drawing/2014/main" id="{422263FC-663E-46B6-ADA9-E1FBCA982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2652" y="2522969"/>
            <a:ext cx="3209758" cy="123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A1=[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1,2,3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; 4,5,6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B1=[2,4,0; 1,3,5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C1=[1,4,7; 8,5,2;3,6,0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Text Box 14">
            <a:extLst>
              <a:ext uri="{FF2B5EF4-FFF2-40B4-BE49-F238E27FC236}">
                <a16:creationId xmlns="" xmlns:a16="http://schemas.microsoft.com/office/drawing/2014/main" id="{565D66A2-514C-4BC9-8482-47A14C602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690" y="1750691"/>
            <a:ext cx="9271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A^3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CAA27591-809E-4653-BF2C-41F26F6A847A}"/>
              </a:ext>
            </a:extLst>
          </p:cNvPr>
          <p:cNvGrpSpPr/>
          <p:nvPr/>
        </p:nvGrpSpPr>
        <p:grpSpPr>
          <a:xfrm>
            <a:off x="1401963" y="2424896"/>
            <a:ext cx="2129461" cy="3356652"/>
            <a:chOff x="1634923" y="2413688"/>
            <a:chExt cx="2129461" cy="3356652"/>
          </a:xfrm>
        </p:grpSpPr>
        <p:sp>
          <p:nvSpPr>
            <p:cNvPr id="14" name="Text Box 14">
              <a:extLst>
                <a:ext uri="{FF2B5EF4-FFF2-40B4-BE49-F238E27FC236}">
                  <a16:creationId xmlns="" xmlns:a16="http://schemas.microsoft.com/office/drawing/2014/main" id="{1FA3F4F0-FC1C-45E5-B50D-6BCD323F6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2555" y="2413688"/>
              <a:ext cx="208182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A=[1,2; 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3,4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="" xmlns:a16="http://schemas.microsoft.com/office/drawing/2014/main" id="{D927C198-2F82-4FBF-BADE-6A3E51844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266" y="2793867"/>
              <a:ext cx="20581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B=[1,1; 2,2]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6">
              <a:extLst>
                <a:ext uri="{FF2B5EF4-FFF2-40B4-BE49-F238E27FC236}">
                  <a16:creationId xmlns="" xmlns:a16="http://schemas.microsoft.com/office/drawing/2014/main" id="{39F4C8B7-333D-4DF7-93AF-F4AD456BF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310" y="3163400"/>
              <a:ext cx="15841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Y1=A+B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="" xmlns:a16="http://schemas.microsoft.com/office/drawing/2014/main" id="{C92CF2B4-7D80-4723-8CA5-DB41D0CED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310" y="3566092"/>
              <a:ext cx="15841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Y2=A</a:t>
              </a:r>
              <a:r>
                <a:rPr lang="en-US" altLang="zh-CN" sz="2400" b="1" dirty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16">
              <a:extLst>
                <a:ext uri="{FF2B5EF4-FFF2-40B4-BE49-F238E27FC236}">
                  <a16:creationId xmlns="" xmlns:a16="http://schemas.microsoft.com/office/drawing/2014/main" id="{F83AB13E-FAF9-47DA-B721-07A226F27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310" y="4037537"/>
              <a:ext cx="15841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Y3=A*B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16">
              <a:extLst>
                <a:ext uri="{FF2B5EF4-FFF2-40B4-BE49-F238E27FC236}">
                  <a16:creationId xmlns="" xmlns:a16="http://schemas.microsoft.com/office/drawing/2014/main" id="{DE6F9C63-70D6-4BCC-8B8B-467867A0D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1896" y="4473943"/>
              <a:ext cx="15841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Y4=A\B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16">
              <a:extLst>
                <a:ext uri="{FF2B5EF4-FFF2-40B4-BE49-F238E27FC236}">
                  <a16:creationId xmlns="" xmlns:a16="http://schemas.microsoft.com/office/drawing/2014/main" id="{B1FC4A19-C065-4DBC-A8C9-026F27BC2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4923" y="4876635"/>
              <a:ext cx="15841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Y5=A/B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6">
              <a:extLst>
                <a:ext uri="{FF2B5EF4-FFF2-40B4-BE49-F238E27FC236}">
                  <a16:creationId xmlns="" xmlns:a16="http://schemas.microsoft.com/office/drawing/2014/main" id="{4F75BF9D-CA0A-407D-9EED-6A5608135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354" y="5308675"/>
              <a:ext cx="15841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Y6=A^2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 Box 1024">
            <a:extLst>
              <a:ext uri="{FF2B5EF4-FFF2-40B4-BE49-F238E27FC236}">
                <a16:creationId xmlns="" xmlns:a16="http://schemas.microsoft.com/office/drawing/2014/main" id="{33E42A85-9988-420C-8EDB-0D8082FE3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732" y="2010842"/>
            <a:ext cx="14507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2.3-1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13786DE7-EBB3-499E-BE68-0C0245719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945BD911-E058-43E3-8185-EACBDD4284DF}"/>
              </a:ext>
            </a:extLst>
          </p:cNvPr>
          <p:cNvGrpSpPr/>
          <p:nvPr/>
        </p:nvGrpSpPr>
        <p:grpSpPr>
          <a:xfrm>
            <a:off x="1071608" y="2107761"/>
            <a:ext cx="5701368" cy="475822"/>
            <a:chOff x="1071608" y="2107761"/>
            <a:chExt cx="5701368" cy="475822"/>
          </a:xfrm>
        </p:grpSpPr>
        <p:sp>
          <p:nvSpPr>
            <p:cNvPr id="7" name="Text Box 6">
              <a:extLst>
                <a:ext uri="{FF2B5EF4-FFF2-40B4-BE49-F238E27FC236}">
                  <a16:creationId xmlns="" xmlns:a16="http://schemas.microsoft.com/office/drawing/2014/main" id="{C4DBAB13-8B5C-4300-8014-D07004656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608" y="2107761"/>
              <a:ext cx="15113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运算符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：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" name="Text Box 1024">
              <a:extLst>
                <a:ext uri="{FF2B5EF4-FFF2-40B4-BE49-F238E27FC236}">
                  <a16:creationId xmlns="" xmlns:a16="http://schemas.microsoft.com/office/drawing/2014/main" id="{27D7FECA-EEA8-4149-B04F-E126DF95A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645" y="2121918"/>
              <a:ext cx="454033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在矩阵的基本运算符前加点“</a:t>
              </a:r>
              <a:r>
                <a:rPr lang="en-US" altLang="zh-CN" sz="2400" b="1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.</a:t>
              </a:r>
              <a:r>
                <a:rPr lang="zh-CN" altLang="en-US" sz="2400" b="1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”</a:t>
              </a:r>
              <a:endParaRPr lang="en-US" altLang="zh-CN" sz="2400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="" xmlns:a16="http://schemas.microsoft.com/office/drawing/2014/main" id="{0F0784C6-A152-4FD7-9725-B8B704F6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67557"/>
            <a:ext cx="496855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矩阵的点（元素群）运算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="" xmlns:a16="http://schemas.microsoft.com/office/drawing/2014/main" id="{CD8A253E-B7A7-42B0-A738-224262285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30" y="812729"/>
            <a:ext cx="5909504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矩阵中对应位置元素进行相关运算。要求参加运算的矩阵必须是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同阶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的，即行、列数必须相等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17" name="Text Box 6">
            <a:extLst>
              <a:ext uri="{FF2B5EF4-FFF2-40B4-BE49-F238E27FC236}">
                <a16:creationId xmlns="" xmlns:a16="http://schemas.microsoft.com/office/drawing/2014/main" id="{4F1B16DE-51D3-4FAD-AB8A-2678D8D0D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442" y="2718657"/>
            <a:ext cx="2129360" cy="123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点乘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.*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R="0" lvl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除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fontAlgn="auto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点乘方</a:t>
            </a: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.^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0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B3DE76C8-A6FD-424B-9126-3CAEFCB7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0" name="Text Box 14">
            <a:extLst>
              <a:ext uri="{FF2B5EF4-FFF2-40B4-BE49-F238E27FC236}">
                <a16:creationId xmlns="" xmlns:a16="http://schemas.microsoft.com/office/drawing/2014/main" id="{EF47C0DC-E936-48A0-AD3A-243235698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810" y="1355256"/>
            <a:ext cx="25369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A=[1,2;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3,4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15">
            <a:extLst>
              <a:ext uri="{FF2B5EF4-FFF2-40B4-BE49-F238E27FC236}">
                <a16:creationId xmlns="" xmlns:a16="http://schemas.microsoft.com/office/drawing/2014/main" id="{41124DD0-EF34-465A-9C59-C30387833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810" y="1825801"/>
            <a:ext cx="2474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B=[1,1; 2,2]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 Box 16">
            <a:extLst>
              <a:ext uri="{FF2B5EF4-FFF2-40B4-BE49-F238E27FC236}">
                <a16:creationId xmlns="" xmlns:a16="http://schemas.microsoft.com/office/drawing/2014/main" id="{68734FE8-3232-4D5A-BA16-3E6F7CCFC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766" y="2296346"/>
            <a:ext cx="158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Y1=A+B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="" xmlns:a16="http://schemas.microsoft.com/office/drawing/2014/main" id="{445FBA7C-353B-460F-888C-EF9927776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127" y="2714395"/>
            <a:ext cx="158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Y2=A.+B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="" xmlns:a16="http://schemas.microsoft.com/office/drawing/2014/main" id="{8D9F47C2-4C14-4560-8AFF-6572A8324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810" y="3132444"/>
            <a:ext cx="158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Y3=A.*B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="" xmlns:a16="http://schemas.microsoft.com/office/drawing/2014/main" id="{C9F8452E-E011-458A-A20F-02817486C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766" y="3541809"/>
            <a:ext cx="158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Y4=A.\B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="" xmlns:a16="http://schemas.microsoft.com/office/drawing/2014/main" id="{CCE7D0AD-3FFB-4899-9812-C6491DFE2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788" y="3909060"/>
            <a:ext cx="158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Y5=A./B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="" xmlns:a16="http://schemas.microsoft.com/office/drawing/2014/main" id="{E28DB47F-B20B-4F6E-9CE9-E06A3B84A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4320207"/>
            <a:ext cx="158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Y6=A.^2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Text Box 1024">
            <a:extLst>
              <a:ext uri="{FF2B5EF4-FFF2-40B4-BE49-F238E27FC236}">
                <a16:creationId xmlns="" xmlns:a16="http://schemas.microsoft.com/office/drawing/2014/main" id="{873EB800-8908-4338-9D7D-F88D36E29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907740"/>
            <a:ext cx="14507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2.3-2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0F0784C6-A152-4FD7-9725-B8B704F6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67557"/>
            <a:ext cx="496855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矩阵的点（元素群）运算</a:t>
            </a:r>
          </a:p>
        </p:txBody>
      </p:sp>
    </p:spTree>
    <p:extLst>
      <p:ext uri="{BB962C8B-B14F-4D97-AF65-F5344CB8AC3E}">
        <p14:creationId xmlns:p14="http://schemas.microsoft.com/office/powerpoint/2010/main" val="226823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3DE76C8-A6FD-424B-9126-3CAEFCB7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8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208</TotalTime>
  <Words>311</Words>
  <Application>Microsoft Office PowerPoint</Application>
  <PresentationFormat>自定义</PresentationFormat>
  <Paragraphs>54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Equation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322</cp:revision>
  <dcterms:created xsi:type="dcterms:W3CDTF">2016-01-02T09:31:00Z</dcterms:created>
  <dcterms:modified xsi:type="dcterms:W3CDTF">2021-03-08T06:18:48Z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