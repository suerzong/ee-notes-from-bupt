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sldIdLst>
    <p:sldId id="306" r:id="rId2"/>
    <p:sldId id="312" r:id="rId3"/>
    <p:sldId id="307" r:id="rId4"/>
    <p:sldId id="313" r:id="rId5"/>
    <p:sldId id="308" r:id="rId6"/>
    <p:sldId id="309" r:id="rId7"/>
    <p:sldId id="314" r:id="rId8"/>
  </p:sldIdLst>
  <p:sldSz cx="11522075" cy="6480175"/>
  <p:notesSz cx="6858000" cy="9144000"/>
  <p:defaultTextStyle>
    <a:defPPr>
      <a:defRPr lang="zh-CN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7EB009EF-A2E8-4216-A1F2-7D86FF23B7A5}">
          <p14:sldIdLst>
            <p14:sldId id="306"/>
            <p14:sldId id="312"/>
            <p14:sldId id="307"/>
            <p14:sldId id="313"/>
            <p14:sldId id="308"/>
            <p14:sldId id="309"/>
            <p14:sldId id="314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019">
          <p15:clr>
            <a:srgbClr val="A4A3A4"/>
          </p15:clr>
        </p15:guide>
        <p15:guide id="2" pos="3628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420" autoAdjust="0"/>
    <p:restoredTop sz="87801" autoAdjust="0"/>
  </p:normalViewPr>
  <p:slideViewPr>
    <p:cSldViewPr>
      <p:cViewPr varScale="1">
        <p:scale>
          <a:sx n="78" d="100"/>
          <a:sy n="78" d="100"/>
        </p:scale>
        <p:origin x="648" y="138"/>
      </p:cViewPr>
      <p:guideLst>
        <p:guide orient="horz" pos="2019"/>
        <p:guide pos="362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C5C4410D-EAF9-42B9-984E-4EE67DF132A3}" type="datetimeFigureOut">
              <a:rPr lang="zh-CN" altLang="en-US"/>
              <a:t>2019/2/20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CN" altLang="en-US" noProof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/>
          <a:lstStyle>
            <a:lvl1pPr algn="r" eaLnBrk="1" hangingPunct="1">
              <a:defRPr sz="1200"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50A3395D-82F3-4EED-8E26-638FC97C2763}" type="slidenum">
              <a:rPr lang="zh-CN" altLang="en-US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163588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slideMaster" Target="../slideMasters/slideMaster1.xml"/><Relationship Id="rId1" Type="http://schemas.openxmlformats.org/officeDocument/2006/relationships/themeOverride" Target="../theme/themeOverride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3" descr="C:\Users\Administrator\Desktop\da_副本.png"/>
          <p:cNvPicPr>
            <a:picLocks noChangeAspect="1" noChangeArrowheads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8002" y="-16499"/>
            <a:ext cx="11530076" cy="2956580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Picture 2" descr="C:\Users\Administrator\Desktop\hui_副本.png"/>
          <p:cNvPicPr>
            <a:picLocks noChangeAspect="1" noChangeArrowheads="1"/>
          </p:cNvPicPr>
          <p:nvPr userDrawn="1"/>
        </p:nvPicPr>
        <p:blipFill>
          <a:blip r:embed="rId4" cstate="print">
            <a:duotone>
              <a:schemeClr val="bg2">
                <a:shade val="45000"/>
                <a:satMod val="135000"/>
              </a:schemeClr>
              <a:prstClr val="white"/>
            </a:duotone>
          </a:blip>
          <a:srcRect/>
          <a:stretch>
            <a:fillRect/>
          </a:stretch>
        </p:blipFill>
        <p:spPr bwMode="auto">
          <a:xfrm>
            <a:off x="4400013" y="3045814"/>
            <a:ext cx="2380429" cy="1224033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224283" y="4464121"/>
            <a:ext cx="9793764" cy="1389038"/>
          </a:xfrm>
        </p:spPr>
        <p:txBody>
          <a:bodyPr>
            <a:normAutofit/>
          </a:bodyPr>
          <a:lstStyle>
            <a:lvl1pPr>
              <a:defRPr sz="7200"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fld id="{184DD567-D43E-48F9-B20C-85EC312AAC57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462" y="360001"/>
            <a:ext cx="10369354" cy="1081087"/>
          </a:xfrm>
        </p:spPr>
        <p:txBody>
          <a:bodyPr/>
          <a:lstStyle>
            <a:lvl1pPr algn="l">
              <a:defRPr sz="3600" b="0" u="none" baseline="0">
                <a:solidFill>
                  <a:schemeClr val="tx1"/>
                </a:solidFill>
                <a:effectLst/>
                <a:uFill>
                  <a:solidFill>
                    <a:srgbClr val="FFC000"/>
                  </a:solidFill>
                </a:uFill>
                <a:latin typeface="Times New Roman" panose="02020603050405020304"/>
                <a:ea typeface="华文楷体" panose="02010600040101010101" pitchFamily="2" charset="-122"/>
                <a:cs typeface="Times New Roman" panose="02020603050405020304"/>
              </a:defRPr>
            </a:lvl1pPr>
          </a:lstStyle>
          <a:p>
            <a:r>
              <a:rPr lang="zh-CN" altLang="en-US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76263" y="1584000"/>
            <a:ext cx="6408000" cy="4276725"/>
          </a:xfrm>
        </p:spPr>
        <p:txBody>
          <a:bodyPr/>
          <a:lstStyle>
            <a:lvl1pPr marL="0" indent="647700" algn="just">
              <a:buFont typeface="+mj-lt"/>
              <a:buNone/>
              <a:defRPr sz="26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1pPr>
            <a:lvl2pPr marL="457200" indent="0" algn="just">
              <a:buFont typeface="+mj-lt"/>
              <a:buNone/>
              <a:defRPr sz="24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2pPr>
            <a:lvl3pPr marL="914400" indent="0" algn="just">
              <a:buFont typeface="+mj-lt"/>
              <a:buNone/>
              <a:defRPr sz="2000" b="1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</a:defRPr>
            </a:lvl3pPr>
            <a:lvl4pPr marL="13716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4pPr>
            <a:lvl5pPr marL="1828800" indent="0" algn="just">
              <a:buFont typeface="+mj-lt"/>
              <a:buNone/>
              <a:defRPr b="1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defRPr>
            </a:lvl5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10164" y="4164114"/>
            <a:ext cx="9793764" cy="128703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10164" y="2746575"/>
            <a:ext cx="9793764" cy="1417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7D4D482-3A90-4E06-95DA-14FE3E9A2BE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76104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857055" y="1512041"/>
            <a:ext cx="5088916" cy="42766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5D40E0C-EA52-4355-9B35-A6ACAD0A2BB1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576104" y="1450540"/>
            <a:ext cx="5090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76104" y="2055057"/>
            <a:ext cx="5090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853056" y="1450540"/>
            <a:ext cx="5092917" cy="604516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853056" y="2055057"/>
            <a:ext cx="5092917" cy="3733601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54DADE3-8C10-45B7-B12D-473A296B17EE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9958541-795C-4649-981F-3549C783923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3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4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1A3CD5A-743D-4EF5-A682-D567F5C7ECB0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76106" y="258007"/>
            <a:ext cx="3790683" cy="109803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04811" y="258007"/>
            <a:ext cx="6441160" cy="553065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576106" y="1356037"/>
            <a:ext cx="3790683" cy="44326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A65B08-2206-487D-9F0D-3641A6A7B82A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258407" y="4536122"/>
            <a:ext cx="6913245" cy="535515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258407" y="579017"/>
            <a:ext cx="6913245" cy="3888105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258407" y="5071637"/>
            <a:ext cx="6913245" cy="76052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A6EA3F-5B07-4245-A155-B07383B8561C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0B554F6-7D91-4838-9C5E-1FA7CDD2C63D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353504" y="259509"/>
            <a:ext cx="2592467" cy="5529149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76104" y="259509"/>
            <a:ext cx="7585366" cy="5529149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2ED7C39-0341-4FF7-8C1D-8CACC1F1A20B}" type="slidenum">
              <a:rPr lang="zh-CN" altLang="en-US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tx1">
                <a:lumMod val="95000"/>
              </a:schemeClr>
            </a:gs>
            <a:gs pos="74000">
              <a:schemeClr val="accent3">
                <a:lumMod val="45000"/>
                <a:lumOff val="55000"/>
              </a:schemeClr>
            </a:gs>
            <a:gs pos="83000">
              <a:schemeClr val="accent3">
                <a:lumMod val="45000"/>
                <a:lumOff val="55000"/>
              </a:schemeClr>
            </a:gs>
            <a:gs pos="100000">
              <a:schemeClr val="accent3">
                <a:lumMod val="30000"/>
                <a:lumOff val="70000"/>
              </a:schemeClr>
            </a:gs>
          </a:gsLst>
          <a:lin ang="5400000" scaled="1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576263" y="258763"/>
            <a:ext cx="10369550" cy="10810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576263" y="1511300"/>
            <a:ext cx="10369550" cy="4276725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576263" y="6005513"/>
            <a:ext cx="2687637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937000" y="6005513"/>
            <a:ext cx="3648075" cy="3460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258175" y="6005513"/>
            <a:ext cx="2687638" cy="34607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/>
          <a:lstStyle>
            <a:lvl1pPr algn="r" eaLnBrk="1" hangingPunct="1">
              <a:defRPr sz="1200">
                <a:solidFill>
                  <a:srgbClr val="898989"/>
                </a:solidFill>
                <a:latin typeface="Calibri" panose="020F0502020204030204" pitchFamily="34" charset="0"/>
                <a:ea typeface="宋体" panose="02010600030101010101" pitchFamily="2" charset="-122"/>
              </a:defRPr>
            </a:lvl1pPr>
          </a:lstStyle>
          <a:p>
            <a:pPr>
              <a:defRPr/>
            </a:pPr>
            <a:fld id="{A6F43104-F69D-49B6-BE1E-A06B1E8B3B70}" type="slidenum">
              <a:rPr lang="zh-CN" altLang="en-US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anose="020F0502020204030204" pitchFamily="34" charset="0"/>
          <a:ea typeface="宋体" panose="02010600030101010101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5A6784F5-76D0-4696-A3A2-E1C60BBAEB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720477" y="2520007"/>
            <a:ext cx="6051850" cy="6191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5000" kern="1200">
                <a:solidFill>
                  <a:srgbClr val="FFFFFF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3200" b="1" i="0" u="none" strike="noStrike" kern="120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n-ea"/>
                <a:ea typeface="+mn-ea"/>
              </a:rPr>
              <a:t>矩阵的行列式、秩与迹</a:t>
            </a:r>
            <a:endParaRPr kumimoji="0" lang="en-US" altLang="zh-CN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3200" b="1" dirty="0">
                <a:solidFill>
                  <a:schemeClr val="bg1"/>
                </a:solidFill>
                <a:latin typeface="+mn-ea"/>
                <a:ea typeface="+mn-ea"/>
              </a:rPr>
              <a:t>及特征值分析</a:t>
            </a:r>
            <a:endParaRPr kumimoji="0" lang="zh-CN" alt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ea"/>
              <a:ea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>
            <a:extLst>
              <a:ext uri="{FF2B5EF4-FFF2-40B4-BE49-F238E27FC236}">
                <a16:creationId xmlns="" xmlns:a16="http://schemas.microsoft.com/office/drawing/2014/main" id="{B8794939-5E4A-47E9-BF39-FC097699DB2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8" name="Rectangle 2">
            <a:extLst>
              <a:ext uri="{FF2B5EF4-FFF2-40B4-BE49-F238E27FC236}">
                <a16:creationId xmlns="" xmlns:a16="http://schemas.microsoft.com/office/drawing/2014/main" id="{80D4E8B4-1D18-452C-BC9F-E2C986FCE34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76461" y="929553"/>
            <a:ext cx="2135485" cy="694655"/>
          </a:xfrm>
        </p:spPr>
        <p:txBody>
          <a:bodyPr/>
          <a:lstStyle/>
          <a:p>
            <a:pPr algn="ctr" eaLnBrk="1" hangingPunct="1"/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主要内容</a:t>
            </a:r>
            <a:endParaRPr lang="en-US" altLang="zh-CN" sz="2800" b="1" dirty="0">
              <a:solidFill>
                <a:srgbClr val="0000FF"/>
              </a:solidFill>
              <a:latin typeface="+mn-ea"/>
              <a:ea typeface="+mn-ea"/>
            </a:endParaRPr>
          </a:p>
        </p:txBody>
      </p:sp>
      <p:sp>
        <p:nvSpPr>
          <p:cNvPr id="9" name="Rectangle 3">
            <a:extLst>
              <a:ext uri="{FF2B5EF4-FFF2-40B4-BE49-F238E27FC236}">
                <a16:creationId xmlns="" xmlns:a16="http://schemas.microsoft.com/office/drawing/2014/main" id="{BE801DD8-69B4-4D6A-9B04-03254E3B3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4493" y="1727919"/>
            <a:ext cx="5544616" cy="151216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0" indent="64770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6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1pPr>
            <a:lvl2pPr marL="4572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4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2pPr>
            <a:lvl3pPr marL="9144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chemeClr val="tx1"/>
                </a:solidFill>
                <a:effectLst/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3pPr>
            <a:lvl4pPr marL="13716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4pPr>
            <a:lvl5pPr marL="1828800" indent="0" algn="just" rtl="0" eaLnBrk="0" fontAlgn="base" hangingPunct="0">
              <a:spcBef>
                <a:spcPct val="20000"/>
              </a:spcBef>
              <a:spcAft>
                <a:spcPct val="0"/>
              </a:spcAft>
              <a:buFont typeface="+mj-lt"/>
              <a:buNone/>
              <a:defRPr sz="2000" b="1" kern="120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的行列式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矩阵</a:t>
            </a:r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的秩与迹</a:t>
            </a:r>
          </a:p>
          <a:p>
            <a:pPr eaLnBrk="1" hangingPunct="1"/>
            <a:r>
              <a:rPr lang="zh-CN" altLang="en-US" sz="2400" dirty="0">
                <a:solidFill>
                  <a:schemeClr val="bg1"/>
                </a:solidFill>
                <a:latin typeface="+mn-ea"/>
                <a:ea typeface="+mn-ea"/>
              </a:rPr>
              <a:t>矩阵的特征值分析</a:t>
            </a:r>
          </a:p>
        </p:txBody>
      </p:sp>
    </p:spTree>
    <p:extLst>
      <p:ext uri="{BB962C8B-B14F-4D97-AF65-F5344CB8AC3E}">
        <p14:creationId xmlns:p14="http://schemas.microsoft.com/office/powerpoint/2010/main" val="22188636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>
            <a:extLst>
              <a:ext uri="{FF2B5EF4-FFF2-40B4-BE49-F238E27FC236}">
                <a16:creationId xmlns="" xmlns:a16="http://schemas.microsoft.com/office/drawing/2014/main" id="{175F2027-ED83-4018-94A0-BFD00B9899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5" name="Rectangle 2"/>
          <p:cNvSpPr txBox="1">
            <a:spLocks noChangeArrowheads="1"/>
          </p:cNvSpPr>
          <p:nvPr/>
        </p:nvSpPr>
        <p:spPr bwMode="auto">
          <a:xfrm>
            <a:off x="288429" y="294978"/>
            <a:ext cx="30776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1.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矩阵的行列式</a:t>
            </a:r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029630" y="935831"/>
            <a:ext cx="238229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</a:rPr>
              <a:t>运算符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det(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9" name="Text Box 4">
            <a:extLst>
              <a:ext uri="{FF2B5EF4-FFF2-40B4-BE49-F238E27FC236}">
                <a16:creationId xmlns="" xmlns:a16="http://schemas.microsoft.com/office/drawing/2014/main" id="{2506526D-7B71-48FA-99D3-1F551720CC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93660" y="1526391"/>
            <a:ext cx="44865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</a:t>
            </a:r>
            <a:r>
              <a:rPr lang="zh-CN" altLang="en-US" sz="2400" b="1" kern="0" dirty="0">
                <a:solidFill>
                  <a:srgbClr val="000000"/>
                </a:solidFill>
                <a:latin typeface="+mn-ea"/>
                <a:ea typeface="+mn-ea"/>
              </a:rPr>
              <a:t>用于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求方阵的行列式值</a:t>
            </a:r>
          </a:p>
        </p:txBody>
      </p:sp>
    </p:spTree>
    <p:extLst>
      <p:ext uri="{BB962C8B-B14F-4D97-AF65-F5344CB8AC3E}">
        <p14:creationId xmlns:p14="http://schemas.microsoft.com/office/powerpoint/2010/main" val="2075057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图片 9">
            <a:extLst>
              <a:ext uri="{FF2B5EF4-FFF2-40B4-BE49-F238E27FC236}">
                <a16:creationId xmlns="" xmlns:a16="http://schemas.microsoft.com/office/drawing/2014/main" id="{0D55830B-3413-4223-8838-156A01A65F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7" name="Rectangle 2">
            <a:extLst>
              <a:ext uri="{FF2B5EF4-FFF2-40B4-BE49-F238E27FC236}">
                <a16:creationId xmlns="" xmlns:a16="http://schemas.microsoft.com/office/drawing/2014/main" id="{A5D86156-B241-4E5B-9651-246F00A38F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94978"/>
            <a:ext cx="30776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矩阵的秩与迹</a:t>
            </a:r>
          </a:p>
        </p:txBody>
      </p:sp>
      <p:sp>
        <p:nvSpPr>
          <p:cNvPr id="9" name="Text Box 6">
            <a:extLst>
              <a:ext uri="{FF2B5EF4-FFF2-40B4-BE49-F238E27FC236}">
                <a16:creationId xmlns="" xmlns:a16="http://schemas.microsoft.com/office/drawing/2014/main" id="{8BABC14D-9BF7-41BF-92BB-3ACE0AD54F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061" y="2279200"/>
            <a:ext cx="338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运算符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rank(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5" name="Rectangle 9">
            <a:extLst>
              <a:ext uri="{FF2B5EF4-FFF2-40B4-BE49-F238E27FC236}">
                <a16:creationId xmlns="" xmlns:a16="http://schemas.microsoft.com/office/drawing/2014/main" id="{C5EDC7D1-E96B-41EE-BA76-15BD08698B6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04" y="1319166"/>
            <a:ext cx="5811261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矩阵的秩是矩阵的列向量组（或行向量组）的任一极大线性无关组所含向量的个数。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17" name="Rectangle 9">
            <a:extLst>
              <a:ext uri="{FF2B5EF4-FFF2-40B4-BE49-F238E27FC236}">
                <a16:creationId xmlns="" xmlns:a16="http://schemas.microsoft.com/office/drawing/2014/main" id="{E203AA53-E955-41FC-80FA-755F6BA3F2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" y="808709"/>
            <a:ext cx="2044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2.1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矩阵的秩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24656494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P spid="15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图片 13">
            <a:extLst>
              <a:ext uri="{FF2B5EF4-FFF2-40B4-BE49-F238E27FC236}">
                <a16:creationId xmlns="" xmlns:a16="http://schemas.microsoft.com/office/drawing/2014/main" id="{1D5C209A-642F-4CF4-A8F8-C314F69A9AA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6" name="Rectangle 2">
            <a:extLst>
              <a:ext uri="{FF2B5EF4-FFF2-40B4-BE49-F238E27FC236}">
                <a16:creationId xmlns="" xmlns:a16="http://schemas.microsoft.com/office/drawing/2014/main" id="{3FDF701D-7108-4968-B90F-5EE3386A1E0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8429" y="294978"/>
            <a:ext cx="307765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2.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矩阵的秩与迹</a:t>
            </a:r>
          </a:p>
        </p:txBody>
      </p:sp>
      <p:sp>
        <p:nvSpPr>
          <p:cNvPr id="28" name="Text Box 6">
            <a:extLst>
              <a:ext uri="{FF2B5EF4-FFF2-40B4-BE49-F238E27FC236}">
                <a16:creationId xmlns="" xmlns:a16="http://schemas.microsoft.com/office/drawing/2014/main" id="{E4A4D6DA-E5A8-4560-9543-6C006766D54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061" y="2279200"/>
            <a:ext cx="3382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2400" b="1" kern="0" dirty="0">
                <a:solidFill>
                  <a:srgbClr val="FF3300"/>
                </a:solidFill>
                <a:latin typeface="+mn-ea"/>
                <a:ea typeface="+mn-ea"/>
                <a:sym typeface="Symbol" panose="05050102010706020507" pitchFamily="18" charset="2"/>
              </a:rPr>
              <a:t>   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运算符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：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trace(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Rectangle 9">
            <a:extLst>
              <a:ext uri="{FF2B5EF4-FFF2-40B4-BE49-F238E27FC236}">
                <a16:creationId xmlns="" xmlns:a16="http://schemas.microsoft.com/office/drawing/2014/main" id="{7A8A4DB0-3ECC-4CC9-9DF5-6CEC7FA78E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01904" y="1319166"/>
            <a:ext cx="5811261" cy="8624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</a:pPr>
            <a:r>
              <a:rPr lang="zh-CN" altLang="en-US" sz="2400" b="1" dirty="0">
                <a:solidFill>
                  <a:srgbClr val="0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矩阵的迹等于矩阵主对角线元素的总和。也等于矩阵特征值的总和。</a:t>
            </a:r>
            <a:endParaRPr lang="zh-CN" altLang="en-US" sz="24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30" name="Rectangle 9">
            <a:extLst>
              <a:ext uri="{FF2B5EF4-FFF2-40B4-BE49-F238E27FC236}">
                <a16:creationId xmlns="" xmlns:a16="http://schemas.microsoft.com/office/drawing/2014/main" id="{054D7757-1112-4FB9-A1D2-54A4D06B76B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0395" y="808709"/>
            <a:ext cx="2044149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2.2 </a:t>
            </a: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矩阵的迹</a:t>
            </a:r>
            <a:endParaRPr lang="zh-CN" altLang="en-US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33" name="Text Box 4">
            <a:extLst>
              <a:ext uri="{FF2B5EF4-FFF2-40B4-BE49-F238E27FC236}">
                <a16:creationId xmlns="" xmlns:a16="http://schemas.microsoft.com/office/drawing/2014/main" id="{75E62D12-0745-4A78-86CB-2FB041E49B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7057" y="2754529"/>
            <a:ext cx="448657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+mn-ea"/>
                <a:ea typeface="+mn-ea"/>
                <a:sym typeface="Symbol" panose="05050102010706020507" pitchFamily="18" charset="2"/>
              </a:rPr>
              <a:t>注意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ea"/>
                <a:ea typeface="+mn-ea"/>
              </a:rPr>
              <a:t>：要求矩阵是方阵</a:t>
            </a:r>
          </a:p>
        </p:txBody>
      </p:sp>
    </p:spTree>
    <p:extLst>
      <p:ext uri="{BB962C8B-B14F-4D97-AF65-F5344CB8AC3E}">
        <p14:creationId xmlns:p14="http://schemas.microsoft.com/office/powerpoint/2010/main" val="4499429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29" grpId="0"/>
      <p:bldP spid="33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676C1769-BF3F-435B-B397-4C3D4F6E299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2" y="0"/>
            <a:ext cx="11520311" cy="6480175"/>
          </a:xfrm>
          <a:prstGeom prst="rect">
            <a:avLst/>
          </a:prstGeom>
        </p:spPr>
      </p:pic>
      <p:sp>
        <p:nvSpPr>
          <p:cNvPr id="23" name="Rectangle 2">
            <a:extLst>
              <a:ext uri="{FF2B5EF4-FFF2-40B4-BE49-F238E27FC236}">
                <a16:creationId xmlns="" xmlns:a16="http://schemas.microsoft.com/office/drawing/2014/main" id="{72A0CE98-87B2-41EE-9432-010B180AC55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557" y="266144"/>
            <a:ext cx="3744416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r>
              <a:rPr lang="en-US" altLang="zh-CN" sz="2800" b="1" dirty="0">
                <a:solidFill>
                  <a:srgbClr val="0000FF"/>
                </a:solidFill>
                <a:latin typeface="+mn-ea"/>
                <a:ea typeface="+mn-ea"/>
              </a:rPr>
              <a:t>3.</a:t>
            </a:r>
            <a:r>
              <a:rPr lang="zh-CN" altLang="en-US" sz="2800" b="1" dirty="0">
                <a:solidFill>
                  <a:srgbClr val="0000FF"/>
                </a:solidFill>
                <a:latin typeface="+mn-ea"/>
                <a:ea typeface="+mn-ea"/>
              </a:rPr>
              <a:t>矩阵的特征值分析</a:t>
            </a:r>
          </a:p>
        </p:txBody>
      </p:sp>
      <p:sp>
        <p:nvSpPr>
          <p:cNvPr id="24" name="Text Box 6">
            <a:extLst>
              <a:ext uri="{FF2B5EF4-FFF2-40B4-BE49-F238E27FC236}">
                <a16:creationId xmlns="" xmlns:a16="http://schemas.microsoft.com/office/drawing/2014/main" id="{DDDF9CE2-78A7-4B7B-B255-1407CD7308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062" y="887771"/>
            <a:ext cx="161962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eig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9" name="Text Box 6">
            <a:extLst>
              <a:ext uri="{FF2B5EF4-FFF2-40B4-BE49-F238E27FC236}">
                <a16:creationId xmlns="" xmlns:a16="http://schemas.microsoft.com/office/drawing/2014/main" id="{99C1A84B-D2B6-4574-AAE0-E5427DFFB15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66520" y="1957761"/>
            <a:ext cx="219568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[</a:t>
            </a:r>
            <a:r>
              <a:rPr lang="en-US" altLang="zh-CN" sz="2400" b="1" kern="0" dirty="0">
                <a:solidFill>
                  <a:srgbClr val="FF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V,D]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=</a:t>
            </a:r>
            <a:r>
              <a:rPr kumimoji="0" lang="en-US" altLang="zh-CN" sz="2400" b="1" i="0" u="none" strike="noStrike" kern="0" cap="none" spc="0" normalizeH="0" baseline="0" noProof="0" dirty="0" err="1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eig</a:t>
            </a: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(A )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1" name="Text Box 5">
            <a:extLst>
              <a:ext uri="{FF2B5EF4-FFF2-40B4-BE49-F238E27FC236}">
                <a16:creationId xmlns="" xmlns:a16="http://schemas.microsoft.com/office/drawing/2014/main" id="{1EE56068-EF31-45FB-A179-C56570A0B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94264" y="901286"/>
            <a:ext cx="3592068" cy="8788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求矩阵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的全部特征值，并构成向量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2" name="Text Box 5">
            <a:extLst>
              <a:ext uri="{FF2B5EF4-FFF2-40B4-BE49-F238E27FC236}">
                <a16:creationId xmlns="" xmlns:a16="http://schemas.microsoft.com/office/drawing/2014/main" id="{3E9033DB-0860-4632-9DA4-9BB885E56D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12193" y="1965752"/>
            <a:ext cx="4216996" cy="12892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lnSpc>
                <a:spcPts val="3200"/>
              </a:lnSpc>
              <a:spcBef>
                <a:spcPct val="50000"/>
              </a:spcBef>
            </a:pP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求矩阵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的全部特征值，构成对角矩阵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；求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</a:t>
            </a:r>
            <a:r>
              <a:rPr lang="zh-CN" altLang="en-US" sz="2400" b="1" dirty="0">
                <a:solidFill>
                  <a:schemeClr val="bg1"/>
                </a:solidFill>
                <a:latin typeface="+mn-ea"/>
                <a:ea typeface="+mn-ea"/>
                <a:sym typeface="Symbol" panose="05050102010706020507" pitchFamily="18" charset="2"/>
              </a:rPr>
              <a:t>的特征向量构成列向量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V</a:t>
            </a:r>
            <a:r>
              <a:rPr lang="zh-CN" altLang="en-US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。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568970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/>
      <p:bldP spid="3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图片 14">
            <a:extLst>
              <a:ext uri="{FF2B5EF4-FFF2-40B4-BE49-F238E27FC236}">
                <a16:creationId xmlns="" xmlns:a16="http://schemas.microsoft.com/office/drawing/2014/main" id="{BDE914A0-29FE-4B47-B5F1-947FE24346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87635" y="-348156"/>
            <a:ext cx="11520311" cy="6480175"/>
          </a:xfrm>
          <a:prstGeom prst="rect">
            <a:avLst/>
          </a:prstGeom>
        </p:spPr>
      </p:pic>
      <p:sp>
        <p:nvSpPr>
          <p:cNvPr id="13" name="Text Box 16">
            <a:extLst>
              <a:ext uri="{FF2B5EF4-FFF2-40B4-BE49-F238E27FC236}">
                <a16:creationId xmlns="" xmlns:a16="http://schemas.microsoft.com/office/drawing/2014/main" id="{4E49AA25-1E72-49F5-ACEF-6090DB63D2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60340" y="805575"/>
            <a:ext cx="381642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A=[1,</a:t>
            </a:r>
            <a:r>
              <a:rPr lang="en-US" altLang="zh-CN" sz="2400" b="1" dirty="0">
                <a:solidFill>
                  <a:srgbClr val="0000FF"/>
                </a:solidFill>
                <a:latin typeface="+mn-ea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2,3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;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2,3,1;3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,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1,</a:t>
            </a:r>
            <a:r>
              <a:rPr lang="en-US" altLang="zh-CN" sz="2400" b="1" dirty="0" smtClean="0">
                <a:solidFill>
                  <a:srgbClr val="0000FF"/>
                </a:solidFill>
                <a:latin typeface="+mn-ea"/>
                <a:cs typeface="Times New Roman" panose="02020603050405020304" pitchFamily="18" charset="0"/>
                <a:sym typeface="Symbol" panose="05050102010706020507" pitchFamily="18" charset="2"/>
              </a:rPr>
              <a:t>-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Symbol" panose="05050102010706020507" pitchFamily="18" charset="2"/>
              </a:rPr>
              <a:t>1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6" name="Text Box 15">
            <a:extLst>
              <a:ext uri="{FF2B5EF4-FFF2-40B4-BE49-F238E27FC236}">
                <a16:creationId xmlns="" xmlns:a16="http://schemas.microsoft.com/office/drawing/2014/main" id="{8E522352-ED9A-46DF-9D09-774B645D869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90734" y="1270243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B=det(A)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3" name="Text Box 1024">
            <a:extLst>
              <a:ext uri="{FF2B5EF4-FFF2-40B4-BE49-F238E27FC236}">
                <a16:creationId xmlns="" xmlns:a16="http://schemas.microsoft.com/office/drawing/2014/main" id="{5DEBB476-726A-4A58-8783-CB2E65288BE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6750" y="201259"/>
            <a:ext cx="1450734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例</a:t>
            </a:r>
            <a:r>
              <a:rPr lang="en-US" altLang="zh-CN" sz="2400" b="1" dirty="0">
                <a:solidFill>
                  <a:srgbClr val="C00000"/>
                </a:solidFill>
                <a:latin typeface="+mn-ea"/>
                <a:ea typeface="+mn-ea"/>
                <a:sym typeface="Symbol" panose="05050102010706020507" pitchFamily="18" charset="2"/>
              </a:rPr>
              <a:t>2.4-1</a:t>
            </a:r>
            <a:endParaRPr lang="en-US" altLang="zh-CN" sz="2400" b="1" dirty="0">
              <a:solidFill>
                <a:srgbClr val="C00000"/>
              </a:solidFill>
              <a:latin typeface="+mn-ea"/>
              <a:ea typeface="+mn-ea"/>
            </a:endParaRPr>
          </a:p>
        </p:txBody>
      </p:sp>
      <p:sp>
        <p:nvSpPr>
          <p:cNvPr id="24" name="Text Box 15">
            <a:extLst>
              <a:ext uri="{FF2B5EF4-FFF2-40B4-BE49-F238E27FC236}">
                <a16:creationId xmlns="" xmlns:a16="http://schemas.microsoft.com/office/drawing/2014/main" id="{C1315D7B-B076-44EB-A065-9D40FB172B5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2368" y="1674979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C=rank(A)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5" name="Text Box 15">
            <a:extLst>
              <a:ext uri="{FF2B5EF4-FFF2-40B4-BE49-F238E27FC236}">
                <a16:creationId xmlns="" xmlns:a16="http://schemas.microsoft.com/office/drawing/2014/main" id="{E3E0FF67-B685-408C-BFDB-EF405E9FC4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14002" y="2042526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D=trace(A)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6" name="Text Box 15">
            <a:extLst>
              <a:ext uri="{FF2B5EF4-FFF2-40B4-BE49-F238E27FC236}">
                <a16:creationId xmlns="" xmlns:a16="http://schemas.microsoft.com/office/drawing/2014/main" id="{961C5358-7665-4779-96CD-54B680D52E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37698" y="2474566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E=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eig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27" name="Text Box 15">
            <a:extLst>
              <a:ext uri="{FF2B5EF4-FFF2-40B4-BE49-F238E27FC236}">
                <a16:creationId xmlns="" xmlns:a16="http://schemas.microsoft.com/office/drawing/2014/main" id="{DFF063E6-ACCF-41A8-ADDB-C3B6AFEB01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46801" y="2891932"/>
            <a:ext cx="205811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[V,D]=</a:t>
            </a:r>
            <a:r>
              <a:rPr lang="en-US" altLang="zh-CN" sz="2400" b="1" dirty="0" err="1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eig</a:t>
            </a:r>
            <a:r>
              <a:rPr lang="en-US" altLang="zh-CN" sz="2400" b="1" dirty="0">
                <a:solidFill>
                  <a:srgbClr val="0000FF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(A)</a:t>
            </a:r>
            <a:endParaRPr lang="zh-CN" altLang="en-US" sz="2400" b="1" dirty="0">
              <a:solidFill>
                <a:srgbClr val="0000FF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 Box 14">
            <a:extLst>
              <a:ext uri="{FF2B5EF4-FFF2-40B4-BE49-F238E27FC236}">
                <a16:creationId xmlns="" xmlns:a16="http://schemas.microsoft.com/office/drawing/2014/main" id="{8D583999-43DB-4AC4-BE60-287011EA946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70402" y="3481879"/>
            <a:ext cx="2536974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A1=[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1,2,3;4,5,6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] B1=</a:t>
            </a:r>
            <a:r>
              <a:rPr lang="en-US" altLang="zh-CN" sz="2400" b="1" dirty="0" err="1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det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(A1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r>
              <a:rPr lang="en-US" altLang="zh-CN" sz="2400" b="1" dirty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 C1=trace(A1</a:t>
            </a:r>
            <a:r>
              <a:rPr lang="en-US" altLang="zh-CN" sz="2400" b="1" dirty="0" smtClean="0">
                <a:solidFill>
                  <a:schemeClr val="bg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  <a:sym typeface="Symbol" panose="05050102010706020507" pitchFamily="18" charset="2"/>
              </a:rPr>
              <a:t>)</a:t>
            </a:r>
            <a:endParaRPr lang="zh-CN" altLang="en-US" sz="2400" b="1" dirty="0">
              <a:solidFill>
                <a:schemeClr val="bg1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7289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theme/theme1.xml><?xml version="1.0" encoding="utf-8"?>
<a:theme xmlns:a="http://schemas.openxmlformats.org/drawingml/2006/main" name="视频录制PPT模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视频录制PPT模板</Template>
  <TotalTime>225</TotalTime>
  <Words>180</Words>
  <Application>Microsoft Office PowerPoint</Application>
  <PresentationFormat>自定义</PresentationFormat>
  <Paragraphs>31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4" baseType="lpstr">
      <vt:lpstr>华文楷体</vt:lpstr>
      <vt:lpstr>宋体</vt:lpstr>
      <vt:lpstr>Arial</vt:lpstr>
      <vt:lpstr>Calibri</vt:lpstr>
      <vt:lpstr>Symbol</vt:lpstr>
      <vt:lpstr>Times New Roman</vt:lpstr>
      <vt:lpstr>视频录制PPT模板</vt:lpstr>
      <vt:lpstr>PowerPoint 演示文稿</vt:lpstr>
      <vt:lpstr>主要内容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nenu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dbpu</dc:creator>
  <cp:lastModifiedBy>Windows 用户</cp:lastModifiedBy>
  <cp:revision>318</cp:revision>
  <dcterms:created xsi:type="dcterms:W3CDTF">2016-01-02T09:31:00Z</dcterms:created>
  <dcterms:modified xsi:type="dcterms:W3CDTF">2019-02-20T13:47:41Z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2052-10.1.0.6030</vt:lpwstr>
  </property>
</Properties>
</file>