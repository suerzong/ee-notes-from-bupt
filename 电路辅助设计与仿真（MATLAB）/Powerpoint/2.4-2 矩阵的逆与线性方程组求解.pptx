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06" r:id="rId2"/>
    <p:sldId id="312" r:id="rId3"/>
    <p:sldId id="307" r:id="rId4"/>
    <p:sldId id="313" r:id="rId5"/>
    <p:sldId id="308" r:id="rId6"/>
    <p:sldId id="309" r:id="rId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C8DCD08-53C4-4A67-9D92-6C41FB7C4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368549" y="2101333"/>
            <a:ext cx="5115746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矩阵的逆与线性方程组求解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8D4FB77E-360D-4197-BD18-A9CF215C8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的逆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线性方程组求解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8C374407-A2C8-47B5-967C-F5517FD4C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94978"/>
            <a:ext cx="30776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矩阵的逆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29630" y="935831"/>
            <a:ext cx="91155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2506526D-7B71-48FA-99D3-1F551720C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561" y="970582"/>
            <a:ext cx="30776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求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满秩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方阵的逆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3A23DD97-2682-459D-82E6-6FB2963B4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78" y="1393031"/>
            <a:ext cx="11926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pinv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="" xmlns:a16="http://schemas.microsoft.com/office/drawing/2014/main" id="{1A881483-BD32-4E1E-A50A-19AAD77B1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561" y="1432247"/>
            <a:ext cx="48856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用于求不是方阵或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+mn-ea"/>
                <a:ea typeface="+mn-ea"/>
              </a:rPr>
              <a:t>非满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秩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方阵的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逆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——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伪逆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="" xmlns:a16="http://schemas.microsoft.com/office/drawing/2014/main" id="{83604C33-FC56-4F77-B3AF-DBFF39F1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697" y="2255001"/>
            <a:ext cx="52534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如果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ABA=A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，</a:t>
            </a:r>
            <a:r>
              <a:rPr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BAB=B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，则称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的伪逆，或广义逆矩阵。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3C005FBB-E323-4F4C-A568-C0214D446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A5D86156-B241-4E5B-9651-246F00A3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8" y="294978"/>
            <a:ext cx="424529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线性方程组求解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="" xmlns:a16="http://schemas.microsoft.com/office/drawing/2014/main" id="{2DE8FAFF-EC1D-4106-8D45-BED734F80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573" y="2871374"/>
            <a:ext cx="218664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inv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)*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="" xmlns:a16="http://schemas.microsoft.com/office/drawing/2014/main" id="{15FD99FA-2804-4351-8826-5097F3D97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573" y="2388161"/>
            <a:ext cx="107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AX=B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8" name="Group 3">
            <a:extLst>
              <a:ext uri="{FF2B5EF4-FFF2-40B4-BE49-F238E27FC236}">
                <a16:creationId xmlns="" xmlns:a16="http://schemas.microsoft.com/office/drawing/2014/main" id="{590AAE89-4F95-4536-897D-3E9F657DC3A5}"/>
              </a:ext>
            </a:extLst>
          </p:cNvPr>
          <p:cNvGrpSpPr>
            <a:grpSpLocks/>
          </p:cNvGrpSpPr>
          <p:nvPr/>
        </p:nvGrpSpPr>
        <p:grpSpPr bwMode="auto">
          <a:xfrm>
            <a:off x="2857304" y="2378448"/>
            <a:ext cx="1968908" cy="461963"/>
            <a:chOff x="1565" y="1616"/>
            <a:chExt cx="1088" cy="291"/>
          </a:xfrm>
        </p:grpSpPr>
        <p:sp>
          <p:nvSpPr>
            <p:cNvPr id="23" name="Text Box 0">
              <a:extLst>
                <a:ext uri="{FF2B5EF4-FFF2-40B4-BE49-F238E27FC236}">
                  <a16:creationId xmlns="" xmlns:a16="http://schemas.microsoft.com/office/drawing/2014/main" id="{0B4FDDCB-6EDC-4510-A70A-2D417B188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1616"/>
              <a:ext cx="10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X=       *B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1">
              <a:extLst>
                <a:ext uri="{FF2B5EF4-FFF2-40B4-BE49-F238E27FC236}">
                  <a16:creationId xmlns="" xmlns:a16="http://schemas.microsoft.com/office/drawing/2014/main" id="{1A03CA6D-2CA0-42B2-8DB7-08C30AE9F0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1132746"/>
                </p:ext>
              </p:extLst>
            </p:nvPr>
          </p:nvGraphicFramePr>
          <p:xfrm>
            <a:off x="1838" y="1635"/>
            <a:ext cx="257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4" imgW="253800" imgH="190440" progId="Equation.DSMT4">
                    <p:embed/>
                  </p:oleObj>
                </mc:Choice>
                <mc:Fallback>
                  <p:oleObj name="Equation" r:id="rId4" imgW="253800" imgH="190440" progId="Equation.DSMT4">
                    <p:embed/>
                    <p:pic>
                      <p:nvPicPr>
                        <p:cNvPr id="14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8" y="1635"/>
                          <a:ext cx="257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17883E6C-BCCA-4DAF-9EB6-0FA0EC76A43E}"/>
              </a:ext>
            </a:extLst>
          </p:cNvPr>
          <p:cNvGrpSpPr/>
          <p:nvPr/>
        </p:nvGrpSpPr>
        <p:grpSpPr>
          <a:xfrm>
            <a:off x="1296541" y="967401"/>
            <a:ext cx="2114710" cy="1328627"/>
            <a:chOff x="1296541" y="967401"/>
            <a:chExt cx="2114710" cy="1328627"/>
          </a:xfrm>
        </p:grpSpPr>
        <p:sp>
          <p:nvSpPr>
            <p:cNvPr id="3" name="左大括号 2">
              <a:extLst>
                <a:ext uri="{FF2B5EF4-FFF2-40B4-BE49-F238E27FC236}">
                  <a16:creationId xmlns="" xmlns:a16="http://schemas.microsoft.com/office/drawing/2014/main" id="{8DCE91F0-D8C3-4494-93AF-07BFC4CC76D5}"/>
                </a:ext>
              </a:extLst>
            </p:cNvPr>
            <p:cNvSpPr/>
            <p:nvPr/>
          </p:nvSpPr>
          <p:spPr>
            <a:xfrm>
              <a:off x="1296541" y="967401"/>
              <a:ext cx="189735" cy="1314262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651A0BFC-AD52-4EC0-B358-693D92329749}"/>
                </a:ext>
              </a:extLst>
            </p:cNvPr>
            <p:cNvSpPr txBox="1"/>
            <p:nvPr/>
          </p:nvSpPr>
          <p:spPr>
            <a:xfrm>
              <a:off x="1391408" y="967401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="" xmlns:a16="http://schemas.microsoft.com/office/drawing/2014/main" id="{4F08721E-1833-4DD1-9A05-98E291FC2959}"/>
                </a:ext>
              </a:extLst>
            </p:cNvPr>
            <p:cNvSpPr txBox="1"/>
            <p:nvPr/>
          </p:nvSpPr>
          <p:spPr>
            <a:xfrm>
              <a:off x="1391408" y="1407996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="" xmlns:a16="http://schemas.microsoft.com/office/drawing/2014/main" id="{EBA74EDC-799C-497A-A975-1E1D0CDCE075}"/>
                </a:ext>
              </a:extLst>
            </p:cNvPr>
            <p:cNvSpPr txBox="1"/>
            <p:nvPr/>
          </p:nvSpPr>
          <p:spPr>
            <a:xfrm>
              <a:off x="1410898" y="1834363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 Box 4">
            <a:extLst>
              <a:ext uri="{FF2B5EF4-FFF2-40B4-BE49-F238E27FC236}">
                <a16:creationId xmlns="" xmlns:a16="http://schemas.microsoft.com/office/drawing/2014/main" id="{38EA02C6-E555-4663-A840-7EC1071DB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340" y="3389744"/>
            <a:ext cx="2753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= inv(A)*B=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A\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ectangle 5">
            <a:extLst>
              <a:ext uri="{FF2B5EF4-FFF2-40B4-BE49-F238E27FC236}">
                <a16:creationId xmlns="" xmlns:a16="http://schemas.microsoft.com/office/drawing/2014/main" id="{C83B86DE-0B10-4919-908C-E285C72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4114" y="3384794"/>
            <a:ext cx="1733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矩阵左除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rgbClr val="FF33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AE401F1E-A400-4514-98A3-82488A368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9" name="Text Box 16">
            <a:extLst>
              <a:ext uri="{FF2B5EF4-FFF2-40B4-BE49-F238E27FC236}">
                <a16:creationId xmlns="" xmlns:a16="http://schemas.microsoft.com/office/drawing/2014/main" id="{1C923744-0CBB-4431-A716-91BE1A31F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64" y="2453544"/>
            <a:ext cx="38164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A=[1,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2,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3;2,3,1;3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1 ,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];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Text Box 15">
            <a:extLst>
              <a:ext uri="{FF2B5EF4-FFF2-40B4-BE49-F238E27FC236}">
                <a16:creationId xmlns="" xmlns:a16="http://schemas.microsoft.com/office/drawing/2014/main" id="{5F345B2B-0336-4D7D-B683-3925FA28B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158" y="2918212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B=[1;2;4];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" name="Text Box 1024">
            <a:extLst>
              <a:ext uri="{FF2B5EF4-FFF2-40B4-BE49-F238E27FC236}">
                <a16:creationId xmlns="" xmlns:a16="http://schemas.microsoft.com/office/drawing/2014/main" id="{AA97AAB1-0CDE-45EA-81B3-08AD2E3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928314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2.4-2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2" name="Text Box 15">
            <a:extLst>
              <a:ext uri="{FF2B5EF4-FFF2-40B4-BE49-F238E27FC236}">
                <a16:creationId xmlns="" xmlns:a16="http://schemas.microsoft.com/office/drawing/2014/main" id="{CB9D632E-81B3-42BC-993B-CC906E2B8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792" y="3322948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X=inv(A)*B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="" xmlns:a16="http://schemas.microsoft.com/office/drawing/2014/main" id="{74EE7AB5-FBF5-4A35-B2AB-8F9F6D986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541" y="3720575"/>
            <a:ext cx="2753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X1 = A\B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="" xmlns:a16="http://schemas.microsoft.com/office/drawing/2014/main" id="{BC8A0624-85D0-4DC6-A580-EA2BBE0B3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8" y="294978"/>
            <a:ext cx="424529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线性方程组求解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BC943687-6D54-4948-94C5-D13BCEC9EAF0}"/>
              </a:ext>
            </a:extLst>
          </p:cNvPr>
          <p:cNvGrpSpPr/>
          <p:nvPr/>
        </p:nvGrpSpPr>
        <p:grpSpPr>
          <a:xfrm>
            <a:off x="2401418" y="969308"/>
            <a:ext cx="2114710" cy="1328627"/>
            <a:chOff x="1296541" y="967401"/>
            <a:chExt cx="2114710" cy="1328627"/>
          </a:xfrm>
        </p:grpSpPr>
        <p:sp>
          <p:nvSpPr>
            <p:cNvPr id="19" name="左大括号 18">
              <a:extLst>
                <a:ext uri="{FF2B5EF4-FFF2-40B4-BE49-F238E27FC236}">
                  <a16:creationId xmlns="" xmlns:a16="http://schemas.microsoft.com/office/drawing/2014/main" id="{531EC669-BA65-4A61-A0D4-93D2155BE536}"/>
                </a:ext>
              </a:extLst>
            </p:cNvPr>
            <p:cNvSpPr/>
            <p:nvPr/>
          </p:nvSpPr>
          <p:spPr>
            <a:xfrm>
              <a:off x="1296541" y="967401"/>
              <a:ext cx="189735" cy="1314262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="" xmlns:a16="http://schemas.microsoft.com/office/drawing/2014/main" id="{2DABE827-209D-4B52-AE41-73E760B57771}"/>
                </a:ext>
              </a:extLst>
            </p:cNvPr>
            <p:cNvSpPr txBox="1"/>
            <p:nvPr/>
          </p:nvSpPr>
          <p:spPr>
            <a:xfrm>
              <a:off x="1391408" y="967401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="" xmlns:a16="http://schemas.microsoft.com/office/drawing/2014/main" id="{C7D63F9B-E0F3-44CC-A409-2D72013D0AA3}"/>
                </a:ext>
              </a:extLst>
            </p:cNvPr>
            <p:cNvSpPr txBox="1"/>
            <p:nvPr/>
          </p:nvSpPr>
          <p:spPr>
            <a:xfrm>
              <a:off x="1391408" y="1407996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="" xmlns:a16="http://schemas.microsoft.com/office/drawing/2014/main" id="{6BA738F0-383A-4326-B52B-36A05F4E32AF}"/>
                </a:ext>
              </a:extLst>
            </p:cNvPr>
            <p:cNvSpPr txBox="1"/>
            <p:nvPr/>
          </p:nvSpPr>
          <p:spPr>
            <a:xfrm>
              <a:off x="1410898" y="1834363"/>
              <a:ext cx="2000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 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1583DA72-EDC0-4785-9B9A-F9F517F2C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431</TotalTime>
  <Words>120</Words>
  <Application>Microsoft Office PowerPoint</Application>
  <PresentationFormat>自定义</PresentationFormat>
  <Paragraphs>28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Equation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323</cp:revision>
  <dcterms:created xsi:type="dcterms:W3CDTF">2016-01-02T09:31:00Z</dcterms:created>
  <dcterms:modified xsi:type="dcterms:W3CDTF">2019-02-20T02:34:02Z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