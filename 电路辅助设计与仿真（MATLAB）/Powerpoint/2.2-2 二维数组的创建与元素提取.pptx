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14" r:id="rId2"/>
    <p:sldId id="312" r:id="rId3"/>
    <p:sldId id="307" r:id="rId4"/>
    <p:sldId id="316" r:id="rId5"/>
    <p:sldId id="308" r:id="rId6"/>
    <p:sldId id="315" r:id="rId7"/>
    <p:sldId id="317" r:id="rId8"/>
    <p:sldId id="318" r:id="rId9"/>
    <p:sldId id="319" r:id="rId1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14"/>
            <p14:sldId id="312"/>
            <p14:sldId id="307"/>
            <p14:sldId id="316"/>
            <p14:sldId id="308"/>
            <p14:sldId id="315"/>
            <p14:sldId id="317"/>
            <p14:sldId id="318"/>
            <p14:sldId id="3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7A6159ED-D80F-472D-9CA9-F07CEA026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0BACDB94-3F62-48A9-9650-368A2A155347}"/>
              </a:ext>
            </a:extLst>
          </p:cNvPr>
          <p:cNvSpPr/>
          <p:nvPr/>
        </p:nvSpPr>
        <p:spPr>
          <a:xfrm>
            <a:off x="1368549" y="2375991"/>
            <a:ext cx="50818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二维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ea typeface="+mn-ea"/>
              </a:rPr>
              <a:t>数组的创建与元素提取</a:t>
            </a:r>
          </a:p>
        </p:txBody>
      </p:sp>
    </p:spTree>
    <p:extLst>
      <p:ext uri="{BB962C8B-B14F-4D97-AF65-F5344CB8AC3E}">
        <p14:creationId xmlns:p14="http://schemas.microsoft.com/office/powerpoint/2010/main" val="129040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3AE65F3C-6D66-426D-91B2-5115AFEA9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19C857B7-6074-4BBD-9582-453EC73A1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E5E1CD2F-5D15-408F-9FC4-99205643C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4896544" cy="1008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二维数组（矩阵）的创建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二维数组中元素的提取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A87C485-DC46-4A70-B339-C45875052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7" name="Rectangle 4">
            <a:extLst>
              <a:ext uri="{FF2B5EF4-FFF2-40B4-BE49-F238E27FC236}">
                <a16:creationId xmlns:a16="http://schemas.microsoft.com/office/drawing/2014/main" xmlns="" id="{235020B6-5771-40A4-B295-33533243D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二维数组（矩阵）的创建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xmlns="" id="{7AC682A8-A409-4242-BB6D-ABA95B53E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710" y="829974"/>
            <a:ext cx="29570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1.1 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</a:rPr>
              <a:t>直接输入法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xmlns="" id="{A949F298-C60A-40FB-881A-B1E77139C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436" y="1259496"/>
            <a:ext cx="6121400" cy="45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从键盘直接输入元素。输入规则如下：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E39BE77C-8AD0-47D7-A1CE-449F30316B02}"/>
              </a:ext>
            </a:extLst>
          </p:cNvPr>
          <p:cNvGrpSpPr/>
          <p:nvPr/>
        </p:nvGrpSpPr>
        <p:grpSpPr>
          <a:xfrm>
            <a:off x="1114001" y="1756427"/>
            <a:ext cx="6271947" cy="2265791"/>
            <a:chOff x="1114001" y="1756427"/>
            <a:chExt cx="6271947" cy="2265791"/>
          </a:xfrm>
        </p:grpSpPr>
        <p:sp>
          <p:nvSpPr>
            <p:cNvPr id="23" name="Text Box 4">
              <a:extLst>
                <a:ext uri="{FF2B5EF4-FFF2-40B4-BE49-F238E27FC236}">
                  <a16:creationId xmlns:a16="http://schemas.microsoft.com/office/drawing/2014/main" xmlns="" id="{2271BA95-BC21-4D8B-ACE6-D39BA288E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1599" y="1756427"/>
              <a:ext cx="434583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（</a:t>
              </a:r>
              <a:r>
                <a:rPr lang="en-US" altLang="zh-CN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1</a:t>
              </a:r>
              <a:r>
                <a:rPr lang="zh-CN" altLang="en-US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）矩阵元素必须在方括号内；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6" name="Text Box 4">
              <a:extLst>
                <a:ext uri="{FF2B5EF4-FFF2-40B4-BE49-F238E27FC236}">
                  <a16:creationId xmlns:a16="http://schemas.microsoft.com/office/drawing/2014/main" xmlns="" id="{A0CE2ED6-DC78-4959-976B-463269A0EF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1599" y="2194526"/>
              <a:ext cx="556554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（</a:t>
              </a:r>
              <a:r>
                <a:rPr lang="en-US" altLang="zh-CN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2</a:t>
              </a:r>
              <a:r>
                <a:rPr lang="zh-CN" altLang="en-US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）同行元素之间用空格或逗号隔开；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7" name="Text Box 4">
              <a:extLst>
                <a:ext uri="{FF2B5EF4-FFF2-40B4-BE49-F238E27FC236}">
                  <a16:creationId xmlns:a16="http://schemas.microsoft.com/office/drawing/2014/main" xmlns="" id="{49D12E56-189F-416B-A8C9-CA3AAAC2D6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001" y="2656010"/>
              <a:ext cx="556554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（</a:t>
              </a:r>
              <a:r>
                <a:rPr lang="en-US" altLang="zh-CN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3</a:t>
              </a:r>
              <a:r>
                <a:rPr lang="zh-CN" altLang="en-US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）行与行之间用分号或回车符隔开；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8" name="Text Box 4">
              <a:extLst>
                <a:ext uri="{FF2B5EF4-FFF2-40B4-BE49-F238E27FC236}">
                  <a16:creationId xmlns:a16="http://schemas.microsoft.com/office/drawing/2014/main" xmlns="" id="{46E390F5-19A8-4A7E-B168-6A032E6EA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3298" y="3117494"/>
              <a:ext cx="6262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（</a:t>
              </a:r>
              <a:r>
                <a:rPr lang="en-US" altLang="zh-CN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4</a:t>
              </a:r>
              <a:r>
                <a:rPr lang="zh-CN" altLang="en-US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）元素可以是数值、变量、表达式或函数；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9" name="Text Box 4">
              <a:extLst>
                <a:ext uri="{FF2B5EF4-FFF2-40B4-BE49-F238E27FC236}">
                  <a16:creationId xmlns:a16="http://schemas.microsoft.com/office/drawing/2014/main" xmlns="" id="{30C730B4-4F94-4881-95A8-0D44B97B5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3298" y="3560553"/>
              <a:ext cx="556554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（</a:t>
              </a:r>
              <a:r>
                <a:rPr lang="en-US" altLang="zh-CN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5</a:t>
              </a:r>
              <a:r>
                <a:rPr lang="zh-CN" altLang="en-US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）矩阵的维数不必预先定义。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67E430E4-54A3-4DCC-9DA3-140A86AB1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06BA22D4-54D7-4F52-9EB6-36623053C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二维数组（矩阵）的创建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xmlns="" id="{A9785D65-B8F1-48FD-BADE-3E40CC12C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509" y="935831"/>
            <a:ext cx="31683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a1=[1 2 3; 4 5 6; 7 8 9]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xmlns="" id="{DE491AB1-D9FA-4EAB-8712-A9B621536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509" y="1397496"/>
            <a:ext cx="31683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a2=[1,2,3; 4,5,6; 7,8,9]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xmlns="" id="{F0D17F57-0732-4257-A34D-5DBBC3E3E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509" y="1876058"/>
            <a:ext cx="316835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a3=[1 2 3; 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      4 5 6; 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      7 8 9]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82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5C5D4F16-4DC7-4995-9CBF-DCC5D0984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42" name="Rectangle 4">
            <a:extLst>
              <a:ext uri="{FF2B5EF4-FFF2-40B4-BE49-F238E27FC236}">
                <a16:creationId xmlns:a16="http://schemas.microsoft.com/office/drawing/2014/main" xmlns="" id="{0634BC83-7239-4AD9-9872-AA9AFE179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二维数组（矩阵）的创建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3" name="Text Box 10">
            <a:extLst>
              <a:ext uri="{FF2B5EF4-FFF2-40B4-BE49-F238E27FC236}">
                <a16:creationId xmlns:a16="http://schemas.microsoft.com/office/drawing/2014/main" xmlns="" id="{6C0A0C6C-ACFA-4F89-B7C8-BF5295DEB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710" y="829974"/>
            <a:ext cx="53276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1.2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利用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MATLAB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函数创建矩阵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" name="Text Box 4">
            <a:extLst>
              <a:ext uri="{FF2B5EF4-FFF2-40B4-BE49-F238E27FC236}">
                <a16:creationId xmlns:a16="http://schemas.microsoft.com/office/drawing/2014/main" xmlns="" id="{B807AA14-95FD-4214-8342-950545876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359" y="1303205"/>
            <a:ext cx="6121400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利用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MATLAB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中的特殊矩阵函数构建新矩阵。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xmlns="" id="{C982692A-9B18-45F6-9758-05139D570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31416"/>
              </p:ext>
            </p:extLst>
          </p:nvPr>
        </p:nvGraphicFramePr>
        <p:xfrm>
          <a:off x="1224533" y="1843158"/>
          <a:ext cx="5327611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593">
                  <a:extLst>
                    <a:ext uri="{9D8B030D-6E8A-4147-A177-3AD203B41FA5}">
                      <a16:colId xmlns:a16="http://schemas.microsoft.com/office/drawing/2014/main" xmlns="" val="2759539856"/>
                    </a:ext>
                  </a:extLst>
                </a:gridCol>
                <a:gridCol w="1145018">
                  <a:extLst>
                    <a:ext uri="{9D8B030D-6E8A-4147-A177-3AD203B41FA5}">
                      <a16:colId xmlns:a16="http://schemas.microsoft.com/office/drawing/2014/main" xmlns="" val="291221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FFFF00"/>
                          </a:solidFill>
                        </a:rPr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FFFF00"/>
                          </a:solidFill>
                        </a:rPr>
                        <a:t>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3499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全</a:t>
                      </a:r>
                      <a:r>
                        <a:rPr lang="en-US" altLang="zh-CN" sz="2400" b="1" dirty="0"/>
                        <a:t>1</a:t>
                      </a:r>
                      <a:r>
                        <a:rPr lang="zh-CN" altLang="en-US" sz="2400" b="1" dirty="0"/>
                        <a:t>矩阵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ones( )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094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全</a:t>
                      </a:r>
                      <a:r>
                        <a:rPr lang="en-US" altLang="zh-CN" sz="2400" b="1" dirty="0"/>
                        <a:t>0</a:t>
                      </a:r>
                      <a:r>
                        <a:rPr lang="zh-CN" altLang="en-US" sz="2400" b="1" dirty="0"/>
                        <a:t>矩阵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zeros( )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99064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(0,1)</a:t>
                      </a:r>
                      <a:r>
                        <a:rPr lang="zh-CN" altLang="en-US" sz="2400" b="1" dirty="0"/>
                        <a:t>区间均匀分布的随机矩阵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rand( )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19112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单位矩阵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eye( )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98345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均值为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2400" b="1" dirty="0"/>
                        <a:t>、方差为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400" b="1" dirty="0"/>
                        <a:t>的标准正态随机分布矩阵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randn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)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4320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28E56F7F-4E91-4A61-9640-70C9A79A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4" name="Text Box 4">
            <a:extLst>
              <a:ext uri="{FF2B5EF4-FFF2-40B4-BE49-F238E27FC236}">
                <a16:creationId xmlns:a16="http://schemas.microsoft.com/office/drawing/2014/main" xmlns="" id="{CB7D6333-5C51-4D01-A733-5EDC5B9B0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46" y="1286534"/>
            <a:ext cx="4968552" cy="45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利用圆括号、逗号和行、列索引号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xmlns="" id="{3F0233B0-D997-459E-BB48-F8340BAE8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维数组中元素的提取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xmlns="" id="{6FA3F8B6-1D29-4EBA-902F-5FD8280A8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710" y="829974"/>
            <a:ext cx="26690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2.1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元素的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提取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81BBFF22-A655-4FDB-8898-F6BC7A4B5F9C}"/>
              </a:ext>
            </a:extLst>
          </p:cNvPr>
          <p:cNvGrpSpPr/>
          <p:nvPr/>
        </p:nvGrpSpPr>
        <p:grpSpPr>
          <a:xfrm>
            <a:off x="1330237" y="1738581"/>
            <a:ext cx="4474324" cy="962012"/>
            <a:chOff x="1330237" y="1738581"/>
            <a:chExt cx="4474324" cy="962012"/>
          </a:xfrm>
        </p:grpSpPr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xmlns="" id="{B76A611B-AC3B-49D7-BE7D-D5DAEB297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7564" y="2200246"/>
              <a:ext cx="152315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A(</a:t>
              </a:r>
              <a:r>
                <a:rPr lang="en-US" altLang="zh-CN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j)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xmlns="" id="{108D390E-B811-4EDC-B80A-A2C4C73F9A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0237" y="1738581"/>
              <a:ext cx="316835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A=[1 2 3; 4 5 6; 7 8 9]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4">
              <a:extLst>
                <a:ext uri="{FF2B5EF4-FFF2-40B4-BE49-F238E27FC236}">
                  <a16:creationId xmlns:a16="http://schemas.microsoft.com/office/drawing/2014/main" xmlns="" id="{5EC02710-F659-41BA-AB2D-74701ACA1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8976" y="2232067"/>
              <a:ext cx="3565585" cy="4685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ts val="3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kern="0" dirty="0">
                  <a:solidFill>
                    <a:schemeClr val="bg1"/>
                  </a:solidFill>
                  <a:latin typeface="+mn-ea"/>
                  <a:ea typeface="+mn-ea"/>
                  <a:sym typeface="Symbol" panose="05050102010706020507" pitchFamily="18" charset="2"/>
                </a:rPr>
                <a:t>提取第</a:t>
              </a:r>
              <a:r>
                <a:rPr lang="en-US" altLang="zh-CN" sz="2400" kern="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zh-CN" altLang="en-US" sz="2400" kern="0" dirty="0">
                  <a:solidFill>
                    <a:schemeClr val="bg1"/>
                  </a:solidFill>
                  <a:latin typeface="+mn-ea"/>
                  <a:ea typeface="+mn-ea"/>
                  <a:sym typeface="Symbol" panose="05050102010706020507" pitchFamily="18" charset="2"/>
                </a:rPr>
                <a:t>行、第</a:t>
              </a:r>
              <a:r>
                <a:rPr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zh-CN" altLang="en-US" sz="2400" kern="0" dirty="0">
                  <a:solidFill>
                    <a:schemeClr val="bg1"/>
                  </a:solidFill>
                  <a:latin typeface="+mn-ea"/>
                  <a:ea typeface="+mn-ea"/>
                  <a:sym typeface="Symbol" panose="05050102010706020507" pitchFamily="18" charset="2"/>
                </a:rPr>
                <a:t>列的元素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559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xmlns="" id="{6F1281E0-5F86-4B0C-AC9A-AAF242863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xmlns="" id="{A4850E56-DF06-43BA-8AD5-E1C9EE85D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维数组中元素的提取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xmlns="" id="{1C872F61-2ABB-40C3-8CA9-93A1426BF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247" y="1285848"/>
            <a:ext cx="3801694" cy="45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利用冒号和表达式获得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xmlns="" id="{A2088B17-DECE-4EF8-86D7-34D4FD21D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11" y="829288"/>
            <a:ext cx="46107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2.2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一维数组和子矩阵的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获得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xmlns="" id="{07FB65B4-07C6-4242-AA96-15BDC0937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964" y="2248345"/>
            <a:ext cx="3565585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提取第</a:t>
            </a:r>
            <a:r>
              <a:rPr lang="en-US" altLang="zh-CN" sz="2400" kern="0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行的所有元素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xmlns="" id="{FA0F454B-103F-463F-A8CF-8F6D6F73B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747" y="1774417"/>
            <a:ext cx="3565585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提取第</a:t>
            </a:r>
            <a:r>
              <a:rPr lang="en-US" altLang="zh-CN" sz="2400" kern="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列的所有元素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7" name="Text Box 4">
            <a:extLst>
              <a:ext uri="{FF2B5EF4-FFF2-40B4-BE49-F238E27FC236}">
                <a16:creationId xmlns:a16="http://schemas.microsoft.com/office/drawing/2014/main" xmlns="" id="{29DEF50A-56B5-4CA0-B4EE-574D54C6A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2640" y="3152777"/>
            <a:ext cx="4064777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提取第</a:t>
            </a:r>
            <a:r>
              <a:rPr lang="en-US" altLang="zh-CN" sz="2400" kern="0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i~i+m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行的所有元素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8" name="Text Box 4">
            <a:extLst>
              <a:ext uri="{FF2B5EF4-FFF2-40B4-BE49-F238E27FC236}">
                <a16:creationId xmlns:a16="http://schemas.microsoft.com/office/drawing/2014/main" xmlns="" id="{9238191F-7313-4987-B81B-F31384BB6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2640" y="2671936"/>
            <a:ext cx="4140850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提取第</a:t>
            </a:r>
            <a:r>
              <a:rPr lang="en-US" altLang="zh-CN" sz="2400" kern="0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k~k+m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列的所有元素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BB6877E8-492F-4651-8593-FB29E4E43864}"/>
              </a:ext>
            </a:extLst>
          </p:cNvPr>
          <p:cNvGrpSpPr/>
          <p:nvPr/>
        </p:nvGrpSpPr>
        <p:grpSpPr>
          <a:xfrm>
            <a:off x="1274538" y="1737895"/>
            <a:ext cx="2577911" cy="2267437"/>
            <a:chOff x="1274538" y="1737895"/>
            <a:chExt cx="2577911" cy="2267437"/>
          </a:xfrm>
        </p:grpSpPr>
        <p:sp>
          <p:nvSpPr>
            <p:cNvPr id="20" name="Text Box 7">
              <a:extLst>
                <a:ext uri="{FF2B5EF4-FFF2-40B4-BE49-F238E27FC236}">
                  <a16:creationId xmlns:a16="http://schemas.microsoft.com/office/drawing/2014/main" xmlns="" id="{62A53772-43C2-4683-B97C-1E3FB9AEB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1865" y="2199560"/>
              <a:ext cx="13628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A(</a:t>
              </a:r>
              <a:r>
                <a:rPr lang="en-US" altLang="zh-CN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:)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2" name="Text Box 7">
              <a:extLst>
                <a:ext uri="{FF2B5EF4-FFF2-40B4-BE49-F238E27FC236}">
                  <a16:creationId xmlns:a16="http://schemas.microsoft.com/office/drawing/2014/main" xmlns="" id="{2E042F4A-F573-4C1A-9003-B40F4B8B0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0540" y="1737895"/>
              <a:ext cx="139015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A(:, j)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7">
              <a:extLst>
                <a:ext uri="{FF2B5EF4-FFF2-40B4-BE49-F238E27FC236}">
                  <a16:creationId xmlns:a16="http://schemas.microsoft.com/office/drawing/2014/main" xmlns="" id="{93926500-B1B4-4293-8FB3-0352C35A8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1865" y="3096317"/>
              <a:ext cx="186688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A(</a:t>
              </a:r>
              <a:r>
                <a:rPr lang="en-US" altLang="zh-CN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i:i+m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:)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6" name="Text Box 7">
              <a:extLst>
                <a:ext uri="{FF2B5EF4-FFF2-40B4-BE49-F238E27FC236}">
                  <a16:creationId xmlns:a16="http://schemas.microsoft.com/office/drawing/2014/main" xmlns="" id="{133EAA21-1FF4-4C8F-942B-813F7C0CB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538" y="2634652"/>
              <a:ext cx="21822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A(:, k:k+m)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7">
              <a:extLst>
                <a:ext uri="{FF2B5EF4-FFF2-40B4-BE49-F238E27FC236}">
                  <a16:creationId xmlns:a16="http://schemas.microsoft.com/office/drawing/2014/main" xmlns="" id="{72613781-D9FC-4788-AE69-995F004C0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799" y="3543667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A(</a:t>
              </a:r>
              <a:r>
                <a:rPr lang="en-US" altLang="zh-CN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i:i+m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k:k+m)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30" name="Text Box 4">
            <a:extLst>
              <a:ext uri="{FF2B5EF4-FFF2-40B4-BE49-F238E27FC236}">
                <a16:creationId xmlns:a16="http://schemas.microsoft.com/office/drawing/2014/main" xmlns="" id="{E6CEB19B-3D5E-4888-ACB0-522930F71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748" y="4036727"/>
            <a:ext cx="5741330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提取第</a:t>
            </a:r>
            <a:r>
              <a:rPr lang="en-US" altLang="zh-CN" sz="2400" kern="0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i~i+m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行、</a:t>
            </a:r>
            <a:r>
              <a:rPr lang="en-US" altLang="zh-CN" sz="2400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kern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k~k+m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sym typeface="Symbol" panose="05050102010706020507" pitchFamily="18" charset="2"/>
              </a:rPr>
              <a:t>列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的所有元素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1265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  <p:bldP spid="24" grpId="0"/>
      <p:bldP spid="27" grpId="0"/>
      <p:bldP spid="28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DEC69E59-95D4-4943-B056-DF34200D0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B255178-FBBD-4D82-A7F8-5C68D6519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维数组中元素的提取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" name="Text Box 1024">
            <a:extLst>
              <a:ext uri="{FF2B5EF4-FFF2-40B4-BE49-F238E27FC236}">
                <a16:creationId xmlns:a16="http://schemas.microsoft.com/office/drawing/2014/main" xmlns="" id="{5DEBB476-726A-4A58-8783-CB2E65288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61" y="828432"/>
            <a:ext cx="145073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2.2-2</a:t>
            </a:r>
            <a:endParaRPr lang="en-US" altLang="zh-CN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xmlns="" id="{4E49AA25-1E72-49F5-ACEF-6090DB63D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093" y="1310439"/>
            <a:ext cx="33268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=[1,2,3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; 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,5,6;7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,8,9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Text Box 15">
            <a:extLst>
              <a:ext uri="{FF2B5EF4-FFF2-40B4-BE49-F238E27FC236}">
                <a16:creationId xmlns:a16="http://schemas.microsoft.com/office/drawing/2014/main" xmlns="" id="{8E522352-ED9A-46DF-9D09-774B645D8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474" y="1773365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a1=a(:,2)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xmlns="" id="{C1315D7B-B076-44EB-A065-9D40FB172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108" y="2178101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a2=a(2,:)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xmlns="" id="{E3E0FF67-B685-408C-BFDB-EF405E9FC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742" y="2545648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a3=a(:,1:2)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xmlns="" id="{961C5358-7665-4779-96CD-54B680D52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108" y="2975394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a4=a(1:2,:)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xmlns="" id="{DFF063E6-ACCF-41A8-ADDB-C3B6AFEB0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093" y="3383685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a5=a(1:2,1:2)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070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DEC69E59-95D4-4943-B056-DF34200D0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2168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294</TotalTime>
  <Words>390</Words>
  <Application>Microsoft Office PowerPoint</Application>
  <PresentationFormat>自定义</PresentationFormat>
  <Paragraphs>60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华文楷体</vt:lpstr>
      <vt:lpstr>楷体_GB2312</vt:lpstr>
      <vt:lpstr>宋体</vt:lpstr>
      <vt:lpstr>Arial</vt:lpstr>
      <vt:lpstr>Calibri</vt:lpstr>
      <vt:lpstr>Symbol</vt:lpstr>
      <vt:lpstr>Times New Roman</vt:lpstr>
      <vt:lpstr>视频录制PPT模板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331</cp:revision>
  <dcterms:created xsi:type="dcterms:W3CDTF">2016-01-02T09:31:00Z</dcterms:created>
  <dcterms:modified xsi:type="dcterms:W3CDTF">2019-02-20T02:24:17Z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