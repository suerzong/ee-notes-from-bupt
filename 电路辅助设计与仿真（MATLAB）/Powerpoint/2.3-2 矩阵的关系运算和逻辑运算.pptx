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06" r:id="rId2"/>
    <p:sldId id="312" r:id="rId3"/>
    <p:sldId id="307" r:id="rId4"/>
    <p:sldId id="313" r:id="rId5"/>
    <p:sldId id="308" r:id="rId6"/>
    <p:sldId id="309" r:id="rId7"/>
    <p:sldId id="315" r:id="rId8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07"/>
            <p14:sldId id="313"/>
            <p14:sldId id="308"/>
            <p14:sldId id="309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96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902CBA15-E5A5-46FD-AA42-178724CAD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368549" y="2375991"/>
            <a:ext cx="5472607" cy="619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矩阵的关系运算和逻辑运算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CAC921AE-2CC3-476B-AB80-04962670C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80D4E8B4-1D18-452C-BC9F-E2C986FCE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xmlns="" id="{BE801DD8-69B4-4D6A-9B04-03254E3B3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544616" cy="12961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的关系运算</a:t>
            </a: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的逻辑运算</a:t>
            </a: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53FAE346-01B1-47CC-9F23-E9B65BD7F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88429" y="273597"/>
            <a:ext cx="413030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矩阵的关系运算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xmlns="" id="{3C4ABC90-7107-463A-B7D5-A6C99CAD1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430" y="842776"/>
            <a:ext cx="58915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关系运算符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：</a:t>
            </a:r>
            <a:r>
              <a:rPr lang="en-US" altLang="zh-CN" sz="240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&lt;, &lt;=, &gt;, &gt;=, </a:t>
            </a:r>
            <a:r>
              <a:rPr lang="en-US" altLang="zh-CN" sz="2400" dirty="0" smtClean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==, </a:t>
            </a:r>
            <a:r>
              <a:rPr lang="en-US" altLang="zh-CN" sz="2400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 </a:t>
            </a:r>
            <a:r>
              <a:rPr lang="en-US" altLang="zh-CN" sz="2400" dirty="0" smtClean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=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xmlns="" id="{78A1BCB9-EB43-4A76-8C54-19821F275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974" y="1304441"/>
            <a:ext cx="42082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运算结果：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真（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），假（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）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2" name="Rectangle 0">
            <a:extLst>
              <a:ext uri="{FF2B5EF4-FFF2-40B4-BE49-F238E27FC236}">
                <a16:creationId xmlns:a16="http://schemas.microsoft.com/office/drawing/2014/main" xmlns="" id="{D30F10D8-FE81-4A27-857F-1E1CBE035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100" y="4012112"/>
            <a:ext cx="54441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注意：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相同阶数的矩阵才能进行比较。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xmlns="" id="{A41A0156-4CB5-485F-8DB5-4B5579EE6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696" y="1841277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运算法则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xmlns="" id="{ACCEAE81-ECA5-4CA7-A21F-BC0ED5D1D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939" y="2320194"/>
            <a:ext cx="52902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）标量比较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：直接比较数的大小。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xmlns="" id="{9B832EE2-0582-4AEF-9FE1-18A01B2AF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974" y="2765527"/>
            <a:ext cx="598719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）矩阵比较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：对应位置元素按照标量运算关系进行比较，最终结果为一个由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组成的、与原矩阵同阶数的矩阵。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2" grpId="0"/>
      <p:bldP spid="23" grpId="0"/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F21FC3A1-D990-4687-BDE9-7B56B1D2A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3" name="Rectangle 2">
            <a:extLst>
              <a:ext uri="{FF2B5EF4-FFF2-40B4-BE49-F238E27FC236}">
                <a16:creationId xmlns:a16="http://schemas.microsoft.com/office/drawing/2014/main" xmlns="" id="{A4AFE408-4695-4BBE-AA27-AE18561EC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29" y="273597"/>
            <a:ext cx="413030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矩阵的关系运算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xmlns="" id="{2E17C715-10B7-4817-AE8B-5E8E27ADB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939" y="1511895"/>
            <a:ext cx="1943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A= magic(3)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1" name="Text Box 14">
            <a:extLst>
              <a:ext uri="{FF2B5EF4-FFF2-40B4-BE49-F238E27FC236}">
                <a16:creationId xmlns:a16="http://schemas.microsoft.com/office/drawing/2014/main" xmlns="" id="{B04A9DD2-45AE-4572-9451-5AF8CA985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279" y="1969095"/>
            <a:ext cx="2663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P= (rem(A,3)==0)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2" name="Text Box 1024">
            <a:extLst>
              <a:ext uri="{FF2B5EF4-FFF2-40B4-BE49-F238E27FC236}">
                <a16:creationId xmlns:a16="http://schemas.microsoft.com/office/drawing/2014/main" xmlns="" id="{7DB392E7-332D-4447-8BFB-F47BC9B56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189" y="919276"/>
            <a:ext cx="56219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2.3-3 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判断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中的元素能否被</a:t>
            </a:r>
            <a:r>
              <a:rPr lang="en-US" altLang="zh-CN" sz="2400" b="1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整除。</a:t>
            </a:r>
            <a:endParaRPr lang="en-US" altLang="zh-CN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3" name="Text Box 14">
            <a:extLst>
              <a:ext uri="{FF2B5EF4-FFF2-40B4-BE49-F238E27FC236}">
                <a16:creationId xmlns:a16="http://schemas.microsoft.com/office/drawing/2014/main" xmlns="" id="{1251B00E-7A67-439B-8F55-91A977D19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1631" y="1669328"/>
            <a:ext cx="2663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rem( )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：取余数</a:t>
            </a:r>
          </a:p>
        </p:txBody>
      </p:sp>
    </p:spTree>
    <p:extLst>
      <p:ext uri="{BB962C8B-B14F-4D97-AF65-F5344CB8AC3E}">
        <p14:creationId xmlns:p14="http://schemas.microsoft.com/office/powerpoint/2010/main" val="246564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24D29F19-AC47-4D35-979D-96FC2D758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8" name="Rectangle 2">
            <a:extLst>
              <a:ext uri="{FF2B5EF4-FFF2-40B4-BE49-F238E27FC236}">
                <a16:creationId xmlns:a16="http://schemas.microsoft.com/office/drawing/2014/main" xmlns="" id="{2BD2673C-F252-48C6-B9A8-4EEEF0547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29" y="273597"/>
            <a:ext cx="413030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矩阵的逻辑运算</a:t>
            </a:r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xmlns="" id="{46C3C58F-C371-4D68-AB96-A50C0BDF2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206" y="1308108"/>
            <a:ext cx="48269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针对二进制数（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）的逻辑运算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2" name="Rectangle 9">
            <a:extLst>
              <a:ext uri="{FF2B5EF4-FFF2-40B4-BE49-F238E27FC236}">
                <a16:creationId xmlns:a16="http://schemas.microsoft.com/office/drawing/2014/main" xmlns="" id="{33CCC0E3-2483-4E3B-8EA4-C41DE2DD8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696" y="1841277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运算法则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xmlns="" id="{3963378B-B05C-4118-B028-D6DC9CA9D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940" y="2320194"/>
            <a:ext cx="6083412" cy="862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2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）“与”运算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：两者均为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，则结果为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；否则为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xmlns="" id="{87221339-B701-4E4C-BBAC-C2E729489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105" y="3265889"/>
            <a:ext cx="5987191" cy="862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2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）“或”运算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：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两者只要有一个为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，则结果就为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；否则为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5" name="Text Box 7">
            <a:extLst>
              <a:ext uri="{FF2B5EF4-FFF2-40B4-BE49-F238E27FC236}">
                <a16:creationId xmlns:a16="http://schemas.microsoft.com/office/drawing/2014/main" xmlns="" id="{F04ECF91-BE8B-4E9B-B207-C9709467B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101" y="878433"/>
            <a:ext cx="577211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逻辑运算符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：</a:t>
            </a:r>
            <a:r>
              <a:rPr lang="zh-CN" altLang="en-US" sz="2400" dirty="0">
                <a:solidFill>
                  <a:srgbClr val="FF3300"/>
                </a:solidFill>
                <a:latin typeface="+mn-ea"/>
                <a:ea typeface="+mn-ea"/>
              </a:rPr>
              <a:t>与（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&amp;</a:t>
            </a:r>
            <a:r>
              <a:rPr lang="zh-CN" altLang="en-US" sz="2400" dirty="0">
                <a:solidFill>
                  <a:srgbClr val="FF3300"/>
                </a:solidFill>
                <a:latin typeface="+mn-ea"/>
                <a:ea typeface="+mn-ea"/>
              </a:rPr>
              <a:t>），或（</a:t>
            </a:r>
            <a:r>
              <a:rPr lang="en-US" altLang="zh-CN" sz="2400" dirty="0">
                <a:solidFill>
                  <a:srgbClr val="FF3300"/>
                </a:solidFill>
                <a:latin typeface="+mn-ea"/>
                <a:ea typeface="+mn-ea"/>
              </a:rPr>
              <a:t>|</a:t>
            </a:r>
            <a:r>
              <a:rPr lang="zh-CN" altLang="en-US" sz="2400" dirty="0">
                <a:solidFill>
                  <a:srgbClr val="FF3300"/>
                </a:solidFill>
                <a:latin typeface="+mn-ea"/>
                <a:ea typeface="+mn-ea"/>
              </a:rPr>
              <a:t>），非（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~</a:t>
            </a:r>
            <a:r>
              <a:rPr lang="zh-CN" altLang="en-US" sz="2400" dirty="0">
                <a:solidFill>
                  <a:srgbClr val="FF3300"/>
                </a:solidFill>
                <a:latin typeface="+mn-ea"/>
                <a:ea typeface="+mn-ea"/>
              </a:rPr>
              <a:t>）</a:t>
            </a:r>
          </a:p>
        </p:txBody>
      </p:sp>
      <p:sp>
        <p:nvSpPr>
          <p:cNvPr id="36" name="Rectangle 9">
            <a:extLst>
              <a:ext uri="{FF2B5EF4-FFF2-40B4-BE49-F238E27FC236}">
                <a16:creationId xmlns:a16="http://schemas.microsoft.com/office/drawing/2014/main" xmlns="" id="{2F0E1469-8D60-4182-876B-B39EC2C46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050" y="4199809"/>
            <a:ext cx="5987191" cy="862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2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3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）“非”运算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：取反。即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如果原来为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，则进行“非”运算后为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；反之亦然。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994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/>
      <p:bldP spid="33" grpId="0"/>
      <p:bldP spid="34" grpId="0"/>
      <p:bldP spid="35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6A0CBE83-5A30-4326-BB53-B7F8E4E58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9" name="Text Box 0">
            <a:extLst>
              <a:ext uri="{FF2B5EF4-FFF2-40B4-BE49-F238E27FC236}">
                <a16:creationId xmlns:a16="http://schemas.microsoft.com/office/drawing/2014/main" xmlns="" id="{EEA99936-9E72-49E1-AD82-97075A076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467" y="1550259"/>
            <a:ext cx="15024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U=P|~P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0" name="Text Box 1">
            <a:extLst>
              <a:ext uri="{FF2B5EF4-FFF2-40B4-BE49-F238E27FC236}">
                <a16:creationId xmlns:a16="http://schemas.microsoft.com/office/drawing/2014/main" xmlns="" id="{8B421032-B287-4F73-BD65-97427843C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3910" y="1991655"/>
            <a:ext cx="33630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all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：全为真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按列运算）</a:t>
            </a:r>
          </a:p>
        </p:txBody>
      </p:sp>
      <p:sp>
        <p:nvSpPr>
          <p:cNvPr id="31" name="Text Box 2">
            <a:extLst>
              <a:ext uri="{FF2B5EF4-FFF2-40B4-BE49-F238E27FC236}">
                <a16:creationId xmlns:a16="http://schemas.microsoft.com/office/drawing/2014/main" xmlns="" id="{D5E9A596-5706-4115-AD1A-A537C88B8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6763" y="2513392"/>
            <a:ext cx="38360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any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：不全为假（按列运算）</a:t>
            </a:r>
          </a:p>
        </p:txBody>
      </p:sp>
      <p:sp>
        <p:nvSpPr>
          <p:cNvPr id="32" name="Text Box 3">
            <a:extLst>
              <a:ext uri="{FF2B5EF4-FFF2-40B4-BE49-F238E27FC236}">
                <a16:creationId xmlns:a16="http://schemas.microsoft.com/office/drawing/2014/main" xmlns="" id="{F22A66FF-DCFE-41CD-9AC5-B48E4A0C4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9531" y="2002107"/>
            <a:ext cx="126178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all(P)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xmlns="" id="{0C9B5578-0BE7-4043-97A6-C67282CD4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6600" y="2473377"/>
            <a:ext cx="111777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all(U)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4" name="Text Box 5">
            <a:extLst>
              <a:ext uri="{FF2B5EF4-FFF2-40B4-BE49-F238E27FC236}">
                <a16:creationId xmlns:a16="http://schemas.microsoft.com/office/drawing/2014/main" xmlns="" id="{4861F02D-C7C6-4F6D-8B61-36F804192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6600" y="2918626"/>
            <a:ext cx="1441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any(P)</a:t>
            </a:r>
          </a:p>
        </p:txBody>
      </p:sp>
      <p:sp>
        <p:nvSpPr>
          <p:cNvPr id="35" name="Rectangle 2">
            <a:extLst>
              <a:ext uri="{FF2B5EF4-FFF2-40B4-BE49-F238E27FC236}">
                <a16:creationId xmlns:a16="http://schemas.microsoft.com/office/drawing/2014/main" xmlns="" id="{0FCD7F7A-EF7A-42F7-BAE0-1A101D2BB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29" y="273597"/>
            <a:ext cx="413030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矩阵的逻辑运算</a:t>
            </a:r>
          </a:p>
        </p:txBody>
      </p:sp>
      <p:sp>
        <p:nvSpPr>
          <p:cNvPr id="36" name="Text Box 1024">
            <a:extLst>
              <a:ext uri="{FF2B5EF4-FFF2-40B4-BE49-F238E27FC236}">
                <a16:creationId xmlns:a16="http://schemas.microsoft.com/office/drawing/2014/main" xmlns="" id="{B95AF46E-23E1-445D-AC8D-ACDB9433B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189" y="919276"/>
            <a:ext cx="14414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2.3-4</a:t>
            </a:r>
            <a:endParaRPr lang="en-US" altLang="zh-CN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689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1E29ED23-E67F-4590-81A3-7236E01C9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237212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244</TotalTime>
  <Words>276</Words>
  <Application>Microsoft Office PowerPoint</Application>
  <PresentationFormat>自定义</PresentationFormat>
  <Paragraphs>31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华文楷体</vt:lpstr>
      <vt:lpstr>宋体</vt:lpstr>
      <vt:lpstr>Arial</vt:lpstr>
      <vt:lpstr>Calibri</vt:lpstr>
      <vt:lpstr>Symbol</vt:lpstr>
      <vt:lpstr>Times New Roman</vt:lpstr>
      <vt:lpstr>视频录制PPT模板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324</cp:revision>
  <dcterms:created xsi:type="dcterms:W3CDTF">2016-01-02T09:31:00Z</dcterms:created>
  <dcterms:modified xsi:type="dcterms:W3CDTF">2019-02-20T01:32:38Z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