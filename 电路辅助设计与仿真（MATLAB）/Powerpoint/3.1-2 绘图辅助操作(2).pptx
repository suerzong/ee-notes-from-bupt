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6" r:id="rId2"/>
    <p:sldId id="312" r:id="rId3"/>
    <p:sldId id="313" r:id="rId4"/>
    <p:sldId id="314" r:id="rId5"/>
    <p:sldId id="317" r:id="rId6"/>
    <p:sldId id="318" r:id="rId7"/>
    <p:sldId id="307" r:id="rId8"/>
    <p:sldId id="315" r:id="rId9"/>
    <p:sldId id="316" r:id="rId10"/>
    <p:sldId id="310" r:id="rId1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4"/>
            <p14:sldId id="317"/>
            <p14:sldId id="318"/>
            <p14:sldId id="307"/>
            <p14:sldId id="315"/>
            <p14:sldId id="316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A91CA246-A3D6-4DAE-B4CE-BB01B38FA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16621" y="2303983"/>
            <a:ext cx="352839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绘图辅助操作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C24C698A-C23F-40B6-8FBC-D753262DA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184576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坐标轴标注和范围设置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标题和图例标注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4BEB794B-6D7F-4A78-BFEB-7DEF65BC9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BBBD6708-18BF-41EC-AD6B-EF1AE34E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5" y="854233"/>
            <a:ext cx="5723046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颜色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：用不同的英文字母表示不同的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颜色，多数与英文单词对应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DB729984-609F-4311-80EC-F9A39D269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32963"/>
              </p:ext>
            </p:extLst>
          </p:nvPr>
        </p:nvGraphicFramePr>
        <p:xfrm>
          <a:off x="1728589" y="1688742"/>
          <a:ext cx="403244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696">
                  <a:extLst>
                    <a:ext uri="{9D8B030D-6E8A-4147-A177-3AD203B41FA5}">
                      <a16:colId xmlns:a16="http://schemas.microsoft.com/office/drawing/2014/main" xmlns="" val="1552411591"/>
                    </a:ext>
                  </a:extLst>
                </a:gridCol>
                <a:gridCol w="2102752">
                  <a:extLst>
                    <a:ext uri="{9D8B030D-6E8A-4147-A177-3AD203B41FA5}">
                      <a16:colId xmlns:a16="http://schemas.microsoft.com/office/drawing/2014/main" xmlns="" val="4061022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FF00"/>
                          </a:solidFill>
                        </a:rPr>
                        <a:t>颜色名称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颜色符号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2837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蓝色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646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绿色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277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红色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47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95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洋红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786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黄色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108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黑色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3222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白色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2820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9064A28B-D17D-4AB1-B6C4-2D2C2E47A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xmlns="" id="{FD0C7B11-5276-461C-B997-8121C2718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xmlns="" id="{9FD39E8E-9F0A-45D1-A759-FC3F19929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5" y="733488"/>
            <a:ext cx="2410678" cy="463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标记和线型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xmlns="" id="{993253AB-68D4-4641-9EAE-D5B29DFF5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13047"/>
              </p:ext>
            </p:extLst>
          </p:nvPr>
        </p:nvGraphicFramePr>
        <p:xfrm>
          <a:off x="3635052" y="1050545"/>
          <a:ext cx="329124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863">
                  <a:extLst>
                    <a:ext uri="{9D8B030D-6E8A-4147-A177-3AD203B41FA5}">
                      <a16:colId xmlns:a16="http://schemas.microsoft.com/office/drawing/2014/main" xmlns="" val="1552411591"/>
                    </a:ext>
                  </a:extLst>
                </a:gridCol>
                <a:gridCol w="1477382">
                  <a:extLst>
                    <a:ext uri="{9D8B030D-6E8A-4147-A177-3AD203B41FA5}">
                      <a16:colId xmlns:a16="http://schemas.microsoft.com/office/drawing/2014/main" xmlns="" val="4061022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FF00"/>
                          </a:solidFill>
                        </a:rPr>
                        <a:t>标记名称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标记符号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2837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方形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6462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菱形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277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向下三角形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˅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47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向上三角形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95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向左三角形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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786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向右三角形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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108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五角星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3222693"/>
                  </a:ext>
                </a:extLst>
              </a:tr>
              <a:tr h="317802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六角星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2820891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xmlns="" id="{BEE87FC0-19F2-44F5-938C-DAFF52580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20001"/>
              </p:ext>
            </p:extLst>
          </p:nvPr>
        </p:nvGraphicFramePr>
        <p:xfrm>
          <a:off x="864493" y="1367879"/>
          <a:ext cx="26263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133">
                  <a:extLst>
                    <a:ext uri="{9D8B030D-6E8A-4147-A177-3AD203B41FA5}">
                      <a16:colId xmlns:a16="http://schemas.microsoft.com/office/drawing/2014/main" xmlns="" val="2391645114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1245640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FFFF00"/>
                          </a:solidFill>
                        </a:rPr>
                        <a:t>标记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FF00"/>
                          </a:solidFill>
                        </a:rPr>
                        <a:t>线型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30932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.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（实线）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6379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O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（点线）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5072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×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-.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（点画线）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4307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+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zh-CN" altLang="en-US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（虚线）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190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 dirty="0"/>
                        <a:t>*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51994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3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54C0B648-B958-4D36-BEF5-B98248ADD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A4C0EE83-7BAB-4C19-90EB-04869BAE7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xmlns="" id="{BB559CD9-FACA-40FA-89C0-4E0E378D6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087" y="798862"/>
            <a:ext cx="3850838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Plot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命令可设定的属性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0B236A4A-60DB-40B4-9914-481C208E2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859791"/>
              </p:ext>
            </p:extLst>
          </p:nvPr>
        </p:nvGraphicFramePr>
        <p:xfrm>
          <a:off x="1008509" y="1373577"/>
          <a:ext cx="5931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276">
                  <a:extLst>
                    <a:ext uri="{9D8B030D-6E8A-4147-A177-3AD203B41FA5}">
                      <a16:colId xmlns:a16="http://schemas.microsoft.com/office/drawing/2014/main" xmlns="" val="1552411591"/>
                    </a:ext>
                  </a:extLst>
                </a:gridCol>
                <a:gridCol w="2628964">
                  <a:extLst>
                    <a:ext uri="{9D8B030D-6E8A-4147-A177-3AD203B41FA5}">
                      <a16:colId xmlns:a16="http://schemas.microsoft.com/office/drawing/2014/main" xmlns="" val="4061022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6462851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线型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LineStyle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2777636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线宽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LineWidth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6477655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颜色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954801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标记点的形状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MarkerType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87861725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标记点的大小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MarkerSize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1082198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标记点内部的填充颜色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MarkerFaceColor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3222693"/>
                  </a:ext>
                </a:extLst>
              </a:tr>
              <a:tr h="413338">
                <a:tc>
                  <a:txBody>
                    <a:bodyPr/>
                    <a:lstStyle/>
                    <a:p>
                      <a:r>
                        <a:rPr lang="zh-CN" altLang="en-US" sz="2400" b="1" dirty="0"/>
                        <a:t>标记点边缘的颜色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MarkerEdgeColor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2820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8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A54F10AA-A1B4-40EF-AACB-5086F8BEC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B8125D11-810B-4A6E-825F-B9E546D26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颜色、标记和线型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6E8DE5B0-BCD8-4C9F-91B0-967A77E7A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541" y="1295871"/>
            <a:ext cx="417646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t1=0:0.2:4*pi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y1= 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exp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(-0.1*t1).*sin(t1);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t2=0:0.2:2*pi;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y2= exp(-0.5*t2).*sin(5*t2+1);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plot(t1,y1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+k’)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hold on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plot(t2,y2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:r’)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xmlns="" id="{619D5DA1-49E5-4EE8-843E-84E4396B9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5" y="853073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3.1-6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64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xmlns="" id="{B5C89979-5686-43A6-8D4E-485D7BFF5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:a16="http://schemas.microsoft.com/office/drawing/2014/main" xmlns="" id="{9946EAE4-EBA2-44BA-8A60-4F4E077D3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275" y="87150"/>
            <a:ext cx="435465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 pitchFamily="18" charset="0"/>
              </a:rPr>
              <a:t>坐标轴标注和范围设置</a:t>
            </a:r>
            <a:endParaRPr lang="zh-CN" altLang="en-US" sz="28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xmlns="" id="{26EC4B85-3DE7-42F2-9243-DEAA9C6A5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829046"/>
            <a:ext cx="561662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坐标轴的标注、范围、刻度以及宽高比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xmlns="" id="{C2AE7161-C9CE-4EC5-A815-C6B8D26BF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1316938"/>
            <a:ext cx="5976664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坐标轴标注函数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zlabel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xmlns="" id="{BF854BAD-5F06-4C1E-B796-F1F20D4E4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541" y="1915872"/>
            <a:ext cx="3331366" cy="34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(‘string’)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</a:t>
            </a:r>
            <a:endParaRPr lang="zh-CN" altLang="en-US" sz="24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08670D5F-3662-4413-845D-235E52A2A434}"/>
              </a:ext>
            </a:extLst>
          </p:cNvPr>
          <p:cNvSpPr/>
          <p:nvPr/>
        </p:nvSpPr>
        <p:spPr>
          <a:xfrm>
            <a:off x="1399550" y="2278507"/>
            <a:ext cx="4408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：标注所用的说明字符串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xmlns="" id="{616DE79A-643B-4461-81E6-A22BBB720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561" y="2861831"/>
            <a:ext cx="2129239" cy="35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(‘x’)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xmlns="" id="{6E4CD38E-A297-4348-AFEA-A068BC904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07" y="3307131"/>
            <a:ext cx="4408579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坐标范围标注函数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Text Box 4">
            <a:extLst>
              <a:ext uri="{FF2B5EF4-FFF2-40B4-BE49-F238E27FC236}">
                <a16:creationId xmlns:a16="http://schemas.microsoft.com/office/drawing/2014/main" xmlns="" id="{AA4ADA06-1DA4-4B4B-AE0A-368F1F0E9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6165" y="3915876"/>
            <a:ext cx="5082944" cy="35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axis (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横轴范围 纵轴范围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Text Box 4">
            <a:extLst>
              <a:ext uri="{FF2B5EF4-FFF2-40B4-BE49-F238E27FC236}">
                <a16:creationId xmlns:a16="http://schemas.microsoft.com/office/drawing/2014/main" xmlns="" id="{829871ED-4609-4DCD-AE8E-3FABD09BC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975" y="4351586"/>
            <a:ext cx="3129950" cy="35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axis([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4 4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5])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5" grpId="0"/>
      <p:bldP spid="5" grpId="0"/>
      <p:bldP spid="36" grpId="0"/>
      <p:bldP spid="37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xmlns="" id="{DEE0AE08-BA68-4034-B7FE-001DE8E62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41" name="Rectangle 2">
            <a:extLst>
              <a:ext uri="{FF2B5EF4-FFF2-40B4-BE49-F238E27FC236}">
                <a16:creationId xmlns:a16="http://schemas.microsoft.com/office/drawing/2014/main" xmlns="" id="{A9FB6E2E-839F-4487-B11D-61CB28F00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8275" y="87150"/>
            <a:ext cx="435465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  <a:cs typeface="Times New Roman" panose="02020603050405020304" pitchFamily="18" charset="0"/>
              </a:rPr>
              <a:t>坐标轴标注和范围设置</a:t>
            </a:r>
            <a:endParaRPr lang="zh-CN" altLang="en-US" sz="28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xmlns="" id="{6710409B-28D6-46CE-996A-977213D63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869872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3.1-7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xmlns="" id="{0CF36067-3A7F-49DE-A58B-AE274527E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541" y="1295871"/>
            <a:ext cx="4176464" cy="238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t=0:0.02:2*pi;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x= 4*sin(t);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y= 5*cos(t);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plot(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xlabel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指定范围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’)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axis([-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4 -5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5])            </a:t>
            </a:r>
            <a:endParaRPr lang="zh-CN" altLang="en-US" sz="24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9440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6E6B0304-5153-4CB1-BEF4-85D7DC39F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" y="0"/>
            <a:ext cx="11520311" cy="6480175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xmlns="" id="{A4F9BD00-C898-4F2E-A0F9-A9A16612C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141530"/>
            <a:ext cx="309063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标题和图例标注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xmlns="" id="{1D5519E3-F21E-4FDB-9108-A7822C3DA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672" y="819357"/>
            <a:ext cx="4571333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标题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是对所绘图形的说明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6" name="Text Box 4">
            <a:extLst>
              <a:ext uri="{FF2B5EF4-FFF2-40B4-BE49-F238E27FC236}">
                <a16:creationId xmlns:a16="http://schemas.microsoft.com/office/drawing/2014/main" xmlns="" id="{8E74311D-52E5-4276-A91A-3F07DE954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399" y="1430936"/>
            <a:ext cx="3331366" cy="35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title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(‘string’)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1832D7E1-4A23-468C-84EA-C1D23E868F1C}"/>
              </a:ext>
            </a:extLst>
          </p:cNvPr>
          <p:cNvSpPr/>
          <p:nvPr/>
        </p:nvSpPr>
        <p:spPr>
          <a:xfrm>
            <a:off x="1440557" y="1794753"/>
            <a:ext cx="4408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：标注所用的说明字符串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xmlns="" id="{6F210930-C380-4899-B734-D156E68B7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937" y="2415621"/>
            <a:ext cx="5688632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图例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标注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是为图形中的所有曲线进行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标注。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xmlns="" id="{B6630196-9CE0-4E7C-BC1D-73C775853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399" y="3322918"/>
            <a:ext cx="5139709" cy="34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legend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(‘string1’, ‘string2’,…)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xmlns="" id="{138BE671-3BE9-4065-85D7-F151B5D43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646" y="3745892"/>
            <a:ext cx="4608512" cy="353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 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(‘location’, ‘location’,…)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C4C71D83-91E6-47CF-85AE-BDCE00213045}"/>
              </a:ext>
            </a:extLst>
          </p:cNvPr>
          <p:cNvSpPr/>
          <p:nvPr/>
        </p:nvSpPr>
        <p:spPr>
          <a:xfrm>
            <a:off x="1606195" y="4069823"/>
            <a:ext cx="52349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：标注按绘制的先后顺序生成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的曲线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A576C3C3-15A3-4142-A2AE-6AB6443EB4C8}"/>
              </a:ext>
            </a:extLst>
          </p:cNvPr>
          <p:cNvSpPr/>
          <p:nvPr/>
        </p:nvSpPr>
        <p:spPr>
          <a:xfrm>
            <a:off x="1606195" y="4892252"/>
            <a:ext cx="4132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：定义标注放置的位置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9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E2620AF9-5B20-41E9-83E8-7E9464B2F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Rectangle 7">
            <a:extLst>
              <a:ext uri="{FF2B5EF4-FFF2-40B4-BE49-F238E27FC236}">
                <a16:creationId xmlns:a16="http://schemas.microsoft.com/office/drawing/2014/main" xmlns="" id="{3469D610-6005-4F36-9A41-0E1C27495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617" y="1344272"/>
            <a:ext cx="53245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x=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pi:pi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/20:pi;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y1= cos(x);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y2= sin(x);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plot(x,y1, ‘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ro’,x,y2, ‘-.b’)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title(‘curve’)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legend(‘y1’, ‘y2’, ‘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’,‘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southeast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’)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xmlns="" id="{FE77F5EF-2FFE-4106-854B-A0E2810D0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21" y="878308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3.1-8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xmlns="" id="{FC43B92D-D9E7-49EA-B876-B1AFD985C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0437" y="141530"/>
            <a:ext cx="3090636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标题和图例标注</a:t>
            </a:r>
          </a:p>
        </p:txBody>
      </p:sp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518</TotalTime>
  <Words>442</Words>
  <Application>Microsoft Office PowerPoint</Application>
  <PresentationFormat>自定义</PresentationFormat>
  <Paragraphs>118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PowerPoint 演示文稿</vt:lpstr>
      <vt:lpstr>主要内容</vt:lpstr>
      <vt:lpstr>1. 颜色、标记和线型</vt:lpstr>
      <vt:lpstr>1. 颜色、标记和线型</vt:lpstr>
      <vt:lpstr>1. 颜色、标记和线型</vt:lpstr>
      <vt:lpstr>1. 颜色、标记和线型</vt:lpstr>
      <vt:lpstr>2. 坐标轴标注和范围设置</vt:lpstr>
      <vt:lpstr>2. 坐标轴标注和范围设置</vt:lpstr>
      <vt:lpstr>3. 标题和图例标注</vt:lpstr>
      <vt:lpstr>3. 标题和图例标注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352</cp:revision>
  <dcterms:created xsi:type="dcterms:W3CDTF">2016-01-02T09:31:00Z</dcterms:created>
  <dcterms:modified xsi:type="dcterms:W3CDTF">2019-02-21T01:08:12Z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