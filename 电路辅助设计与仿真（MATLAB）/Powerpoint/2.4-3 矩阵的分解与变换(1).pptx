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06" r:id="rId2"/>
    <p:sldId id="312" r:id="rId3"/>
    <p:sldId id="307" r:id="rId4"/>
    <p:sldId id="316" r:id="rId5"/>
    <p:sldId id="315" r:id="rId6"/>
    <p:sldId id="313" r:id="rId7"/>
    <p:sldId id="308" r:id="rId8"/>
    <p:sldId id="317" r:id="rId9"/>
    <p:sldId id="309" r:id="rId10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07"/>
            <p14:sldId id="316"/>
            <p14:sldId id="315"/>
            <p14:sldId id="313"/>
            <p14:sldId id="308"/>
            <p14:sldId id="317"/>
            <p14:sldId id="3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96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2019/3/10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BDA59D5A-874D-4D2B-96F9-114F13BB4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152837" y="2087959"/>
            <a:ext cx="5115746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矩阵的分解与变换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52E47B96-6619-4EDA-88AE-2823CD6B8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80D4E8B4-1D18-452C-BC9F-E2C986FCE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xmlns="" id="{BE801DD8-69B4-4D6A-9B04-03254E3B3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5544616" cy="15121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的分解</a:t>
            </a: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矩阵的变换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xmlns="" id="{CAE5E754-C3DF-4510-97EA-1C798689F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88429" y="294978"/>
            <a:ext cx="41044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矩阵的分解</a:t>
            </a:r>
          </a:p>
        </p:txBody>
      </p:sp>
      <p:sp>
        <p:nvSpPr>
          <p:cNvPr id="11" name="Text Box 1024">
            <a:extLst>
              <a:ext uri="{FF2B5EF4-FFF2-40B4-BE49-F238E27FC236}">
                <a16:creationId xmlns:a16="http://schemas.microsoft.com/office/drawing/2014/main" xmlns="" id="{83E428C8-BF9A-489B-8998-EBA9B523E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933" y="922861"/>
            <a:ext cx="46805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三角分解（方阵）：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l,u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]=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(a)</a:t>
            </a:r>
            <a:endParaRPr lang="zh-CN" altLang="en-US" sz="2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4" name="Text Box 1025">
            <a:extLst>
              <a:ext uri="{FF2B5EF4-FFF2-40B4-BE49-F238E27FC236}">
                <a16:creationId xmlns:a16="http://schemas.microsoft.com/office/drawing/2014/main" xmlns="" id="{EF67FCE5-4A91-4D2E-8CCC-6E2FF24D3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664" y="1408249"/>
            <a:ext cx="3471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正交分解：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q,r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]=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qr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(a)</a:t>
            </a:r>
            <a:endParaRPr lang="zh-CN" altLang="en-US" sz="2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7" name="Text Box 1025">
            <a:extLst>
              <a:ext uri="{FF2B5EF4-FFF2-40B4-BE49-F238E27FC236}">
                <a16:creationId xmlns:a16="http://schemas.microsoft.com/office/drawing/2014/main" xmlns="" id="{736932BF-37AF-493F-8877-6BCD96CD5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557" y="2316545"/>
            <a:ext cx="5234411" cy="94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6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r>
              <a:rPr lang="zh-CN" altLang="en-US" sz="2400" dirty="0" smtClean="0">
                <a:solidFill>
                  <a:srgbClr val="000000"/>
                </a:solidFill>
                <a:latin typeface="+mn-ea"/>
                <a:ea typeface="+mn-ea"/>
              </a:rPr>
              <a:t>：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阶正交</a:t>
            </a:r>
            <a:r>
              <a:rPr lang="zh-CN" altLang="en-US" sz="2400" dirty="0" smtClean="0">
                <a:solidFill>
                  <a:srgbClr val="000000"/>
                </a:solidFill>
                <a:latin typeface="+mn-ea"/>
                <a:ea typeface="+mn-ea"/>
              </a:rPr>
              <a:t>方阵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26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：与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同阶的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上三角矩阵</a:t>
            </a:r>
          </a:p>
        </p:txBody>
      </p:sp>
      <p:sp>
        <p:nvSpPr>
          <p:cNvPr id="22" name="Text Box 1025">
            <a:extLst>
              <a:ext uri="{FF2B5EF4-FFF2-40B4-BE49-F238E27FC236}">
                <a16:creationId xmlns:a16="http://schemas.microsoft.com/office/drawing/2014/main" xmlns="" id="{8CD4CBEF-3511-45AE-8157-158974E92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857" y="1835622"/>
            <a:ext cx="1561600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a(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n,m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en-US" altLang="zh-CN" sz="24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7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66428BE9-A5E5-4B87-B682-A7B690271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97905885-6F43-4416-A87A-31C829878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29" y="294978"/>
            <a:ext cx="41044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矩阵的分解</a:t>
            </a:r>
          </a:p>
        </p:txBody>
      </p:sp>
      <p:sp>
        <p:nvSpPr>
          <p:cNvPr id="8" name="Text Box 1029">
            <a:extLst>
              <a:ext uri="{FF2B5EF4-FFF2-40B4-BE49-F238E27FC236}">
                <a16:creationId xmlns:a16="http://schemas.microsoft.com/office/drawing/2014/main" xmlns="" id="{EC454C75-F59C-46F1-B9B4-431B05BBE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844" y="913649"/>
            <a:ext cx="4429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奇异值分解：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u,s,v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]=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svd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(a)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0" name="Text Box 1025">
            <a:extLst>
              <a:ext uri="{FF2B5EF4-FFF2-40B4-BE49-F238E27FC236}">
                <a16:creationId xmlns:a16="http://schemas.microsoft.com/office/drawing/2014/main" xmlns="" id="{E6713306-11DD-45DA-AC0D-29D9F14AC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557" y="1439887"/>
            <a:ext cx="5234411" cy="1980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6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正交方阵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26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阶的对角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阵，对角线元素为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</a:p>
          <a:p>
            <a:pPr eaLnBrk="1" hangingPunct="1">
              <a:lnSpc>
                <a:spcPts val="26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的奇异值，长度为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的较小者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26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正交方阵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55446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B65DAB99-FA18-4EBC-A574-2FA8FB87E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80C3718B-4C23-410F-8D4D-07E26E891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37" y="299640"/>
            <a:ext cx="295232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矩阵的变换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xmlns="" id="{4C81B987-2A10-434E-83BE-B501CE1BB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378" y="1008459"/>
            <a:ext cx="4103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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矩阵的共轭转置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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xmlns="" id="{DFE52425-AAC5-486D-99E7-A7B2AF59C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378" y="1547846"/>
            <a:ext cx="360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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矩阵的共轭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conj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xmlns="" id="{56B3D356-658B-4873-B583-3072BD08F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378" y="2051084"/>
            <a:ext cx="3959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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矩阵的转置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conj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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4295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7DEFB0C8-8DE4-4AEE-8793-54308B57C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A5D86156-B241-4E5B-9651-246F00A38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37" y="299640"/>
            <a:ext cx="295232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矩阵的变换</a:t>
            </a:r>
          </a:p>
        </p:txBody>
      </p:sp>
      <p:sp>
        <p:nvSpPr>
          <p:cNvPr id="21" name="Text Box 5">
            <a:extLst>
              <a:ext uri="{FF2B5EF4-FFF2-40B4-BE49-F238E27FC236}">
                <a16:creationId xmlns:a16="http://schemas.microsoft.com/office/drawing/2014/main" xmlns="" id="{1CAA18C7-3976-4A76-8E19-EB1A47D28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502" y="906264"/>
            <a:ext cx="259127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复数矩阵的赋值</a:t>
            </a:r>
          </a:p>
        </p:txBody>
      </p:sp>
      <p:sp>
        <p:nvSpPr>
          <p:cNvPr id="22" name="Text Box 6">
            <a:extLst>
              <a:ext uri="{FF2B5EF4-FFF2-40B4-BE49-F238E27FC236}">
                <a16:creationId xmlns:a16="http://schemas.microsoft.com/office/drawing/2014/main" xmlns="" id="{6EFF51BD-BCFF-476C-9BF9-96975C29B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502" y="1352204"/>
            <a:ext cx="309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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对元素逐个赋值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9" name="Text Box 7">
            <a:extLst>
              <a:ext uri="{FF2B5EF4-FFF2-40B4-BE49-F238E27FC236}">
                <a16:creationId xmlns:a16="http://schemas.microsoft.com/office/drawing/2014/main" xmlns="" id="{EBDCDA74-5455-4426-91F5-191BEE95E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502" y="2287388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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对实部和虚部矩阵分别赋值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0" name="Text Box 8">
            <a:extLst>
              <a:ext uri="{FF2B5EF4-FFF2-40B4-BE49-F238E27FC236}">
                <a16:creationId xmlns:a16="http://schemas.microsoft.com/office/drawing/2014/main" xmlns="" id="{8F497FB6-DA9E-4E61-9C23-936308947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502" y="3278387"/>
            <a:ext cx="583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注意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：只有数字和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的乘积可省略乘号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31" name="Text Box 0">
            <a:extLst>
              <a:ext uri="{FF2B5EF4-FFF2-40B4-BE49-F238E27FC236}">
                <a16:creationId xmlns:a16="http://schemas.microsoft.com/office/drawing/2014/main" xmlns="" id="{D4D75C45-876A-4633-90C9-4578FE7CA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4607" y="1793679"/>
            <a:ext cx="35999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z=[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1+2i,3+4i;5+6i,7+8i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" name="Text Box 1">
            <a:extLst>
              <a:ext uri="{FF2B5EF4-FFF2-40B4-BE49-F238E27FC236}">
                <a16:creationId xmlns:a16="http://schemas.microsoft.com/office/drawing/2014/main" xmlns="" id="{B51797BF-265B-4D30-B391-04E3632F5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6709" y="2769158"/>
            <a:ext cx="36321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z=[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1,3;5,7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]+[2,4;6,8]*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64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9" grpId="0"/>
      <p:bldP spid="30" grpId="0"/>
      <p:bldP spid="31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1AA126BF-12A7-4C41-81EE-BD3A59CE0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41" name="Text Box 1024">
            <a:extLst>
              <a:ext uri="{FF2B5EF4-FFF2-40B4-BE49-F238E27FC236}">
                <a16:creationId xmlns:a16="http://schemas.microsoft.com/office/drawing/2014/main" xmlns="" id="{AA97AAB1-0CDE-45EA-81B3-08AD2E38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477" y="890959"/>
            <a:ext cx="145073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2.4-3</a:t>
            </a:r>
            <a:endParaRPr lang="en-US" altLang="zh-CN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6" name="Text Box 0">
            <a:extLst>
              <a:ext uri="{FF2B5EF4-FFF2-40B4-BE49-F238E27FC236}">
                <a16:creationId xmlns:a16="http://schemas.microsoft.com/office/drawing/2014/main" xmlns="" id="{5A3EDDD7-E752-416C-BF7E-3012D7E3C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1156" y="1482278"/>
            <a:ext cx="35999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z=[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1+2i,3+4i;5+6i,7+8i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Text Box 0">
            <a:extLst>
              <a:ext uri="{FF2B5EF4-FFF2-40B4-BE49-F238E27FC236}">
                <a16:creationId xmlns:a16="http://schemas.microsoft.com/office/drawing/2014/main" xmlns="" id="{29AFB7BC-599D-4FB0-A79F-228233E36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1156" y="2000965"/>
            <a:ext cx="2520280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z1=z</a:t>
            </a:r>
            <a:r>
              <a:rPr lang="en-US" altLang="zh-CN" sz="2400" b="1" kern="0" dirty="0">
                <a:solidFill>
                  <a:srgbClr val="0000FF"/>
                </a:solidFill>
                <a:latin typeface="+mn-ea"/>
                <a:sym typeface="Symbol" panose="05050102010706020507" pitchFamily="18" charset="2"/>
              </a:rPr>
              <a:t></a:t>
            </a:r>
            <a:endParaRPr lang="zh-CN" altLang="zh-CN" sz="2400" b="1" kern="0" dirty="0">
              <a:solidFill>
                <a:srgbClr val="0000FF"/>
              </a:solidFill>
              <a:latin typeface="+mn-ea"/>
              <a:sym typeface="Symbol" panose="05050102010706020507" pitchFamily="18" charset="2"/>
            </a:endParaRP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z2=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conj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(z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z3=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conj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(z</a:t>
            </a:r>
            <a:r>
              <a:rPr lang="en-US" altLang="zh-CN" sz="2400" b="1" kern="0" dirty="0" smtClean="0">
                <a:solidFill>
                  <a:srgbClr val="0000FF"/>
                </a:solidFill>
                <a:latin typeface="+mn-ea"/>
                <a:sym typeface="Symbol" panose="05050102010706020507" pitchFamily="18" charset="2"/>
              </a:rPr>
              <a:t>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xmlns="" id="{B57815B6-FC77-4CD7-8602-931783C27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37" y="299640"/>
            <a:ext cx="295232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矩阵的变换</a:t>
            </a:r>
          </a:p>
        </p:txBody>
      </p:sp>
    </p:spTree>
    <p:extLst>
      <p:ext uri="{BB962C8B-B14F-4D97-AF65-F5344CB8AC3E}">
        <p14:creationId xmlns:p14="http://schemas.microsoft.com/office/powerpoint/2010/main" val="44994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B65DAB99-FA18-4EBC-A574-2FA8FB87E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80C3718B-4C23-410F-8D4D-07E26E891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37" y="299640"/>
            <a:ext cx="295232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矩阵的变换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xmlns="" id="{4C81B987-2A10-434E-83BE-B501CE1BB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378" y="1008459"/>
            <a:ext cx="4103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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矩阵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的行、列扩展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9" name="Text Box 16">
            <a:extLst>
              <a:ext uri="{FF2B5EF4-FFF2-40B4-BE49-F238E27FC236}">
                <a16:creationId xmlns="" xmlns:a16="http://schemas.microsoft.com/office/drawing/2014/main" id="{4E49AA25-1E72-49F5-ACEF-6090DB63D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4615" y="1503692"/>
            <a:ext cx="33268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=[1,2,3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; 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4,5,6;7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,8,9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Text Box 15">
            <a:extLst>
              <a:ext uri="{FF2B5EF4-FFF2-40B4-BE49-F238E27FC236}">
                <a16:creationId xmlns="" xmlns:a16="http://schemas.microsoft.com/office/drawing/2014/main" id="{8E522352-ED9A-46DF-9D09-774B645D8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673" y="2052477"/>
            <a:ext cx="20581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a(4,3)=6.5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xmlns="" id="{4C81B987-2A10-434E-83BE-B501CE1BB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529" y="2056942"/>
            <a:ext cx="129614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行扩展：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xmlns="" id="{4C81B987-2A10-434E-83BE-B501CE1BB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529" y="3011487"/>
            <a:ext cx="129614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列扩展：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13" name="Text Box 15">
            <a:extLst>
              <a:ext uri="{FF2B5EF4-FFF2-40B4-BE49-F238E27FC236}">
                <a16:creationId xmlns="" xmlns:a16="http://schemas.microsoft.com/office/drawing/2014/main" id="{8E522352-ED9A-46DF-9D09-774B645D8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673" y="2575963"/>
            <a:ext cx="20581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a(5,:)=[5,4,3]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Text Box 15">
            <a:extLst>
              <a:ext uri="{FF2B5EF4-FFF2-40B4-BE49-F238E27FC236}">
                <a16:creationId xmlns="" xmlns:a16="http://schemas.microsoft.com/office/drawing/2014/main" id="{8E522352-ED9A-46DF-9D09-774B645D8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672" y="3022325"/>
            <a:ext cx="2386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a(:,4)=[5;4;3;2;1]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621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87610DEB-2D53-447E-8619-D4EFD2027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89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526</TotalTime>
  <Words>232</Words>
  <Application>Microsoft Office PowerPoint</Application>
  <PresentationFormat>自定义</PresentationFormat>
  <Paragraphs>41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华文楷体</vt:lpstr>
      <vt:lpstr>宋体</vt:lpstr>
      <vt:lpstr>Arial</vt:lpstr>
      <vt:lpstr>Calibri</vt:lpstr>
      <vt:lpstr>Symbol</vt:lpstr>
      <vt:lpstr>Times New Roman</vt:lpstr>
      <vt:lpstr>视频录制PPT模板</vt:lpstr>
      <vt:lpstr>PowerPoint 演示文稿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337</cp:revision>
  <dcterms:created xsi:type="dcterms:W3CDTF">2016-01-02T09:31:00Z</dcterms:created>
  <dcterms:modified xsi:type="dcterms:W3CDTF">2019-03-10T07:46:31Z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