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306" r:id="rId2"/>
    <p:sldId id="312" r:id="rId3"/>
    <p:sldId id="307" r:id="rId4"/>
    <p:sldId id="313" r:id="rId5"/>
    <p:sldId id="314" r:id="rId6"/>
    <p:sldId id="308" r:id="rId7"/>
    <p:sldId id="317" r:id="rId8"/>
    <p:sldId id="309" r:id="rId9"/>
    <p:sldId id="315" r:id="rId10"/>
    <p:sldId id="316" r:id="rId11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EB009EF-A2E8-4216-A1F2-7D86FF23B7A5}">
          <p14:sldIdLst>
            <p14:sldId id="306"/>
            <p14:sldId id="312"/>
            <p14:sldId id="307"/>
            <p14:sldId id="313"/>
            <p14:sldId id="314"/>
            <p14:sldId id="308"/>
            <p14:sldId id="317"/>
            <p14:sldId id="309"/>
            <p14:sldId id="315"/>
            <p14:sldId id="31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19">
          <p15:clr>
            <a:srgbClr val="A4A3A4"/>
          </p15:clr>
        </p15:guide>
        <p15:guide id="2" pos="36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20" autoAdjust="0"/>
    <p:restoredTop sz="87801" autoAdjust="0"/>
  </p:normalViewPr>
  <p:slideViewPr>
    <p:cSldViewPr>
      <p:cViewPr varScale="1">
        <p:scale>
          <a:sx n="78" d="100"/>
          <a:sy n="78" d="100"/>
        </p:scale>
        <p:origin x="648" y="96"/>
      </p:cViewPr>
      <p:guideLst>
        <p:guide orient="horz" pos="2019"/>
        <p:guide pos="36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5C4410D-EAF9-42B9-984E-4EE67DF132A3}" type="datetimeFigureOut">
              <a:rPr lang="zh-CN" altLang="en-US"/>
              <a:t>2021/3/29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0A3395D-82F3-4EED-8E26-638FC97C276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6358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C:\Users\Administrator\Desktop\da_副本.png"/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002" y="-16499"/>
            <a:ext cx="11530076" cy="29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 descr="C:\Users\Administrator\Desktop\hui_副本.png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00013" y="3045814"/>
            <a:ext cx="2380429" cy="12240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24283" y="4464121"/>
            <a:ext cx="9793764" cy="1389038"/>
          </a:xfrm>
        </p:spPr>
        <p:txBody>
          <a:bodyPr>
            <a:normAutofit/>
          </a:bodyPr>
          <a:lstStyle>
            <a:lvl1pPr>
              <a:defRPr sz="7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84DD567-D43E-48F9-B20C-85EC312AAC5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462" y="360001"/>
            <a:ext cx="10369354" cy="1081087"/>
          </a:xfrm>
        </p:spPr>
        <p:txBody>
          <a:bodyPr/>
          <a:lstStyle>
            <a:lvl1pPr algn="l">
              <a:defRPr sz="3600" b="0" u="none" baseline="0">
                <a:solidFill>
                  <a:schemeClr val="tx1"/>
                </a:solidFill>
                <a:effectLst/>
                <a:uFill>
                  <a:solidFill>
                    <a:srgbClr val="FFC000"/>
                  </a:solidFill>
                </a:uFill>
                <a:latin typeface="Times New Roman" panose="02020603050405020304"/>
                <a:ea typeface="华文楷体" panose="02010600040101010101" pitchFamily="2" charset="-122"/>
                <a:cs typeface="Times New Roman" panose="02020603050405020304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84000"/>
            <a:ext cx="6408000" cy="4276725"/>
          </a:xfrm>
        </p:spPr>
        <p:txBody>
          <a:bodyPr/>
          <a:lstStyle>
            <a:lvl1pPr marL="0" indent="647700" algn="just">
              <a:buFont typeface="+mj-lt"/>
              <a:buNone/>
              <a:defRPr sz="26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 algn="just">
              <a:buFont typeface="+mj-lt"/>
              <a:buNone/>
              <a:defRPr sz="24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914400" indent="0" algn="just">
              <a:buFont typeface="+mj-lt"/>
              <a:buNone/>
              <a:defRPr sz="20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3716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18288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0164" y="4164114"/>
            <a:ext cx="9793764" cy="128703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0164" y="2746575"/>
            <a:ext cx="9793764" cy="1417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D4D482-3A90-4E06-95DA-14FE3E9A2BE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104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57055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40E0C-EA52-4355-9B35-A6ACAD0A2BB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104" y="1450540"/>
            <a:ext cx="5090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104" y="2055057"/>
            <a:ext cx="5090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056" y="1450540"/>
            <a:ext cx="5092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056" y="2055057"/>
            <a:ext cx="5092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DADE3-8C10-45B7-B12D-473A296B17E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958541-795C-4649-981F-3549C783923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A3CD5A-743D-4EF5-A682-D567F5C7ECB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106" y="258007"/>
            <a:ext cx="3790683" cy="10980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4811" y="258007"/>
            <a:ext cx="6441160" cy="55306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106" y="1356037"/>
            <a:ext cx="3790683" cy="44326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65B08-2206-487D-9F0D-3641A6A7B82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8407" y="4536122"/>
            <a:ext cx="6913245" cy="53551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8407" y="579017"/>
            <a:ext cx="6913245" cy="388810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8407" y="5071637"/>
            <a:ext cx="6913245" cy="7605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A6EA3F-5B07-4245-A155-B07383B8561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554F6-7D91-4838-9C5E-1FA7CDD2C63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504" y="259509"/>
            <a:ext cx="2592467" cy="55291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104" y="259509"/>
            <a:ext cx="7585366" cy="55291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D7C39-0341-4FF7-8C1D-8CACC1F1A20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576263" y="258763"/>
            <a:ext cx="10369550" cy="1081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76263" y="1511300"/>
            <a:ext cx="10369550" cy="427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76263" y="6005513"/>
            <a:ext cx="2687637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37000" y="6005513"/>
            <a:ext cx="3648075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258175" y="6005513"/>
            <a:ext cx="2687638" cy="3460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6F43104-F69D-49B6-BE1E-A06B1E8B3B7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3.jpg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6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EC97DF20-AD82-4509-BB7A-655F08F86F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376661" y="2375991"/>
            <a:ext cx="2916485" cy="747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rPr>
              <a:t>多项式函数库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2C2CC3CB-4900-498E-B6B3-6A37C50E9A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="" xmlns:a16="http://schemas.microsoft.com/office/drawing/2014/main" id="{D3183716-0FEB-4FCB-B98F-CD82FAE639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8048" y="919537"/>
            <a:ext cx="2135485" cy="694655"/>
          </a:xfrm>
        </p:spPr>
        <p:txBody>
          <a:bodyPr/>
          <a:lstStyle/>
          <a:p>
            <a:pPr algn="ctr" eaLnBrk="1" hangingPunct="1"/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主要内容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="" xmlns:a16="http://schemas.microsoft.com/office/drawing/2014/main" id="{EBADAFAA-A4AA-4AE2-A19F-B68813371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8128" y="1717903"/>
            <a:ext cx="3960440" cy="194421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64770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6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4572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4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0" algn="l" eaLnBrk="1" hangingPunct="1">
              <a:lnSpc>
                <a:spcPct val="90000"/>
              </a:lnSpc>
              <a:buClr>
                <a:srgbClr val="00007D"/>
              </a:buClr>
              <a:buSzPct val="75000"/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多项式的四则运算</a:t>
            </a:r>
            <a:endParaRPr lang="zh-CN" altLang="en-US" sz="2400" kern="0" dirty="0">
              <a:solidFill>
                <a:srgbClr val="000000"/>
              </a:solidFill>
              <a:latin typeface="Arial"/>
              <a:ea typeface="宋体"/>
            </a:endParaRPr>
          </a:p>
          <a:p>
            <a:pPr lvl="0" indent="0" algn="l" eaLnBrk="1" hangingPunct="1">
              <a:lnSpc>
                <a:spcPct val="90000"/>
              </a:lnSpc>
              <a:buClr>
                <a:srgbClr val="00007D"/>
              </a:buClr>
              <a:buSzPct val="75000"/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多项式求导、求根和求值</a:t>
            </a:r>
            <a:endParaRPr lang="zh-CN" altLang="en-US" sz="2400" kern="0" dirty="0">
              <a:solidFill>
                <a:srgbClr val="000000"/>
              </a:solidFill>
              <a:latin typeface="Arial"/>
              <a:ea typeface="宋体"/>
            </a:endParaRPr>
          </a:p>
          <a:p>
            <a:pPr lvl="0" indent="0" algn="l" eaLnBrk="1" hangingPunct="1">
              <a:lnSpc>
                <a:spcPct val="90000"/>
              </a:lnSpc>
              <a:buClr>
                <a:srgbClr val="00007D"/>
              </a:buClr>
              <a:buSzPct val="75000"/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Arial"/>
                <a:ea typeface="宋体"/>
              </a:rPr>
              <a:t>多项式拟合</a:t>
            </a:r>
            <a:endParaRPr lang="en-US" altLang="zh-CN" sz="2400" kern="0" dirty="0">
              <a:solidFill>
                <a:srgbClr val="000000"/>
              </a:solidFill>
              <a:latin typeface="Arial"/>
              <a:ea typeface="宋体"/>
            </a:endParaRPr>
          </a:p>
          <a:p>
            <a:pPr indent="0" algn="l" eaLnBrk="1" hangingPunct="1">
              <a:lnSpc>
                <a:spcPct val="90000"/>
              </a:lnSpc>
              <a:buClr>
                <a:srgbClr val="00007D"/>
              </a:buClr>
              <a:buSzPct val="75000"/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Arial"/>
                <a:ea typeface="宋体"/>
              </a:rPr>
              <a:t>线性微分方程的解</a:t>
            </a:r>
          </a:p>
          <a:p>
            <a:pPr lvl="0" indent="0" algn="l" eaLnBrk="1" hangingPunct="1">
              <a:lnSpc>
                <a:spcPct val="90000"/>
              </a:lnSpc>
              <a:buClr>
                <a:srgbClr val="00007D"/>
              </a:buClr>
              <a:buSzPct val="75000"/>
              <a:defRPr/>
            </a:pPr>
            <a:endParaRPr lang="zh-CN" altLang="en-US" sz="2400" kern="0" dirty="0">
              <a:solidFill>
                <a:srgbClr val="000000"/>
              </a:solidFill>
              <a:latin typeface="Arial"/>
              <a:ea typeface="宋体"/>
            </a:endParaRPr>
          </a:p>
          <a:p>
            <a:pPr eaLnBrk="1" hangingPunct="1"/>
            <a:endParaRPr lang="zh-CN" altLang="en-US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8863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="" xmlns:a16="http://schemas.microsoft.com/office/drawing/2014/main" id="{7725820A-2977-4FE1-A819-E6A7C59185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7" name="Text Box 0"/>
          <p:cNvSpPr txBox="1">
            <a:spLocks noChangeArrowheads="1"/>
          </p:cNvSpPr>
          <p:nvPr/>
        </p:nvSpPr>
        <p:spPr bwMode="auto">
          <a:xfrm>
            <a:off x="1193017" y="2830220"/>
            <a:ext cx="370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FF3300"/>
                </a:solidFill>
                <a:latin typeface="宋体" panose="02010600030101010101" pitchFamily="2" charset="-122"/>
              </a:rPr>
              <a:t>注意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：零系数不能省去。</a:t>
            </a: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578980" y="755000"/>
            <a:ext cx="2736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rgbClr val="C0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1.1 </a:t>
            </a: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</a:rPr>
              <a:t>多项式的表示</a:t>
            </a: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1586490" y="2278895"/>
            <a:ext cx="42484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a=[a(1), a(2),…,a(</a:t>
            </a:r>
            <a:r>
              <a:rPr lang="en-US" altLang="zh-CN" sz="24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a(</a:t>
            </a:r>
            <a:r>
              <a:rPr lang="en-US" altLang="zh-CN" sz="24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+1)]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8762586"/>
              </p:ext>
            </p:extLst>
          </p:nvPr>
        </p:nvGraphicFramePr>
        <p:xfrm>
          <a:off x="1641292" y="1709919"/>
          <a:ext cx="5127857" cy="5418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" name="Equation" r:id="rId4" imgW="2286000" imgH="241200" progId="Equation.DSMT4">
                  <p:embed/>
                </p:oleObj>
              </mc:Choice>
              <mc:Fallback>
                <p:oleObj name="Equation" r:id="rId4" imgW="22860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1292" y="1709919"/>
                        <a:ext cx="5127857" cy="5418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2">
            <a:extLst>
              <a:ext uri="{FF2B5EF4-FFF2-40B4-BE49-F238E27FC236}">
                <a16:creationId xmlns="" xmlns:a16="http://schemas.microsoft.com/office/drawing/2014/main" id="{52B0ED51-2066-4894-B97B-F03DE4E91D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8429" y="79876"/>
            <a:ext cx="3600400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多项式的四则运算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18" name="Text Box 0">
            <a:extLst>
              <a:ext uri="{FF2B5EF4-FFF2-40B4-BE49-F238E27FC236}">
                <a16:creationId xmlns="" xmlns:a16="http://schemas.microsoft.com/office/drawing/2014/main" id="{130FF0E4-0BF2-4181-BF9E-8263B139B8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5545" y="1230227"/>
            <a:ext cx="55836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用各幂次前的系数向量表示，从高到低。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="" xmlns:a16="http://schemas.microsoft.com/office/drawing/2014/main" id="{9AF6A0C9-731F-4DAF-8C47-43E675029A81}"/>
              </a:ext>
            </a:extLst>
          </p:cNvPr>
          <p:cNvGrpSpPr/>
          <p:nvPr/>
        </p:nvGrpSpPr>
        <p:grpSpPr>
          <a:xfrm>
            <a:off x="1399080" y="3405016"/>
            <a:ext cx="2507933" cy="952671"/>
            <a:chOff x="1399080" y="3405016"/>
            <a:chExt cx="2507933" cy="952671"/>
          </a:xfrm>
        </p:grpSpPr>
        <p:graphicFrame>
          <p:nvGraphicFramePr>
            <p:cNvPr id="19" name="Object 0">
              <a:extLst>
                <a:ext uri="{FF2B5EF4-FFF2-40B4-BE49-F238E27FC236}">
                  <a16:creationId xmlns="" xmlns:a16="http://schemas.microsoft.com/office/drawing/2014/main" id="{03F5C4E6-8DBA-437B-A32B-141845FD146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2284613"/>
                </p:ext>
              </p:extLst>
            </p:nvPr>
          </p:nvGraphicFramePr>
          <p:xfrm>
            <a:off x="1399080" y="3405016"/>
            <a:ext cx="2507933" cy="4751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7" name="Equation" r:id="rId6" imgW="1206360" imgH="228600" progId="Equation.DSMT4">
                    <p:embed/>
                  </p:oleObj>
                </mc:Choice>
                <mc:Fallback>
                  <p:oleObj name="Equation" r:id="rId6" imgW="1206360" imgH="228600" progId="Equation.DSMT4">
                    <p:embed/>
                    <p:pic>
                      <p:nvPicPr>
                        <p:cNvPr id="14" name="Object 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9080" y="3405016"/>
                          <a:ext cx="2507933" cy="4751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0">
              <a:extLst>
                <a:ext uri="{FF2B5EF4-FFF2-40B4-BE49-F238E27FC236}">
                  <a16:creationId xmlns="" xmlns:a16="http://schemas.microsoft.com/office/drawing/2014/main" id="{FAD8EF68-56B9-4039-BE7A-FE945679F73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6958251"/>
                </p:ext>
              </p:extLst>
            </p:nvPr>
          </p:nvGraphicFramePr>
          <p:xfrm>
            <a:off x="1401502" y="3887071"/>
            <a:ext cx="2353079" cy="4706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8" name="Equation" r:id="rId8" imgW="1143000" imgH="228600" progId="Equation.DSMT4">
                    <p:embed/>
                  </p:oleObj>
                </mc:Choice>
                <mc:Fallback>
                  <p:oleObj name="Equation" r:id="rId8" imgW="1143000" imgH="228600" progId="Equation.DSMT4">
                    <p:embed/>
                    <p:pic>
                      <p:nvPicPr>
                        <p:cNvPr id="19" name="Object 0">
                          <a:extLst>
                            <a:ext uri="{FF2B5EF4-FFF2-40B4-BE49-F238E27FC236}">
                              <a16:creationId xmlns="" xmlns:a16="http://schemas.microsoft.com/office/drawing/2014/main" id="{03F5C4E6-8DBA-437B-A32B-141845FD146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1502" y="3887071"/>
                          <a:ext cx="2353079" cy="4706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Text Box 4">
            <a:extLst>
              <a:ext uri="{FF2B5EF4-FFF2-40B4-BE49-F238E27FC236}">
                <a16:creationId xmlns="" xmlns:a16="http://schemas.microsoft.com/office/drawing/2014/main" id="{EB1E19DA-7F7E-4BC3-BF75-776C35E80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3212" y="3402186"/>
            <a:ext cx="18436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a=[1, 2, 0, 1]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Box 4">
            <a:extLst>
              <a:ext uri="{FF2B5EF4-FFF2-40B4-BE49-F238E27FC236}">
                <a16:creationId xmlns="" xmlns:a16="http://schemas.microsoft.com/office/drawing/2014/main" id="{9C223C12-91D8-4EEC-ADF5-C970620E2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7873" y="3918431"/>
            <a:ext cx="17516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b=[1, 2, 1]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05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8" grpId="0"/>
      <p:bldP spid="22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="" xmlns:a16="http://schemas.microsoft.com/office/drawing/2014/main" id="{75DE164B-32EA-47EC-BD55-3CBC783C84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8" name="Text Box 1">
            <a:extLst>
              <a:ext uri="{FF2B5EF4-FFF2-40B4-BE49-F238E27FC236}">
                <a16:creationId xmlns="" xmlns:a16="http://schemas.microsoft.com/office/drawing/2014/main" id="{611B35A5-F8AA-4671-997A-C88C5AFB36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5704" y="2669359"/>
            <a:ext cx="3852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 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多项式相乘：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conv(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Text Box 3">
            <a:extLst>
              <a:ext uri="{FF2B5EF4-FFF2-40B4-BE49-F238E27FC236}">
                <a16:creationId xmlns="" xmlns:a16="http://schemas.microsoft.com/office/drawing/2014/main" id="{B8276014-E6FB-4480-94CC-A53BF2083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980" y="755000"/>
            <a:ext cx="27368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rgbClr val="C0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1.1 </a:t>
            </a: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</a:rPr>
              <a:t>多项式的运算</a:t>
            </a:r>
          </a:p>
        </p:txBody>
      </p:sp>
      <p:sp>
        <p:nvSpPr>
          <p:cNvPr id="11" name="Text Box 5">
            <a:extLst>
              <a:ext uri="{FF2B5EF4-FFF2-40B4-BE49-F238E27FC236}">
                <a16:creationId xmlns="" xmlns:a16="http://schemas.microsoft.com/office/drawing/2014/main" id="{069EDDDE-5E06-4FA8-84D9-869E49D1AC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5704" y="1314425"/>
            <a:ext cx="38528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 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多项式相加：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endParaRPr lang="zh-CN" altLang="en-US" sz="2400" dirty="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sp>
        <p:nvSpPr>
          <p:cNvPr id="14" name="Text Box 3">
            <a:extLst>
              <a:ext uri="{FF2B5EF4-FFF2-40B4-BE49-F238E27FC236}">
                <a16:creationId xmlns="" xmlns:a16="http://schemas.microsoft.com/office/drawing/2014/main" id="{850A38D2-3D47-4D39-8E19-68759CCE0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5704" y="3095508"/>
            <a:ext cx="495689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 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多项式相除：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q,r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]=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deconv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="" xmlns:a16="http://schemas.microsoft.com/office/drawing/2014/main" id="{051D378C-41BB-49AA-A34F-23FC98F910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8429" y="79876"/>
            <a:ext cx="3600400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多项式的四则运算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17" name="Text Box 5">
            <a:extLst>
              <a:ext uri="{FF2B5EF4-FFF2-40B4-BE49-F238E27FC236}">
                <a16:creationId xmlns="" xmlns:a16="http://schemas.microsoft.com/office/drawing/2014/main" id="{9DA383EE-FD9E-473A-989B-CCA29FB915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6179" y="1864263"/>
            <a:ext cx="5846284" cy="789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500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注意：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</a:rPr>
              <a:t>长度必须相同，短的在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前面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</a:rPr>
              <a:t>以“</a:t>
            </a: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</a:rPr>
              <a:t>0”</a:t>
            </a:r>
          </a:p>
          <a:p>
            <a:pPr eaLnBrk="1" hangingPunct="1"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chemeClr val="bg1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</a:rPr>
              <a:t>补齐。</a:t>
            </a:r>
          </a:p>
        </p:txBody>
      </p:sp>
      <p:sp>
        <p:nvSpPr>
          <p:cNvPr id="18" name="Text Box 1025">
            <a:extLst>
              <a:ext uri="{FF2B5EF4-FFF2-40B4-BE49-F238E27FC236}">
                <a16:creationId xmlns="" xmlns:a16="http://schemas.microsoft.com/office/drawing/2014/main" id="{DEDCEB41-8957-4021-B018-E45FE8C326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9943" y="3617441"/>
            <a:ext cx="2044207" cy="79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：商式</a:t>
            </a:r>
            <a:endParaRPr lang="en-US" altLang="zh-CN" sz="2400" dirty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：余子式</a:t>
            </a:r>
            <a:endParaRPr lang="zh-CN" altLang="en-US" sz="24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9" name="Text Box 1025">
            <a:extLst>
              <a:ext uri="{FF2B5EF4-FFF2-40B4-BE49-F238E27FC236}">
                <a16:creationId xmlns="" xmlns:a16="http://schemas.microsoft.com/office/drawing/2014/main" id="{E38F01BE-F964-40C4-A5D7-33EC9EFCE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6179" y="4484707"/>
            <a:ext cx="5234411" cy="79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500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注意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是分子，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是分母，分母系数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向量的第一位不能为零。</a:t>
            </a:r>
            <a:endParaRPr lang="zh-CN" altLang="en-US" sz="24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78330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4" grpId="0"/>
      <p:bldP spid="17" grpId="0"/>
      <p:bldP spid="18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="" xmlns:a16="http://schemas.microsoft.com/office/drawing/2014/main" id="{9CC307E0-E320-4FFC-9EF5-077B5AA142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8" name="Text Box 3">
            <a:extLst>
              <a:ext uri="{FF2B5EF4-FFF2-40B4-BE49-F238E27FC236}">
                <a16:creationId xmlns="" xmlns:a16="http://schemas.microsoft.com/office/drawing/2014/main" id="{51B20E99-8132-4659-BA3F-4448C1AA81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696" y="770624"/>
            <a:ext cx="14376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例</a:t>
            </a:r>
            <a:r>
              <a:rPr lang="en-US" altLang="zh-CN" sz="2400" dirty="0">
                <a:solidFill>
                  <a:srgbClr val="C0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5.2-1</a:t>
            </a:r>
            <a:endParaRPr lang="zh-CN" altLang="en-US" sz="2400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="" xmlns:a16="http://schemas.microsoft.com/office/drawing/2014/main" id="{CA043502-6750-47DF-A9BB-DE710E3CC5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8429" y="79876"/>
            <a:ext cx="3600400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多项式的四则运算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="" xmlns:a16="http://schemas.microsoft.com/office/drawing/2014/main" id="{CF196D87-FF89-47C4-A45C-986FD4840E49}"/>
              </a:ext>
            </a:extLst>
          </p:cNvPr>
          <p:cNvGrpSpPr/>
          <p:nvPr/>
        </p:nvGrpSpPr>
        <p:grpSpPr>
          <a:xfrm>
            <a:off x="2192677" y="761132"/>
            <a:ext cx="3273425" cy="907125"/>
            <a:chOff x="1016000" y="3405188"/>
            <a:chExt cx="3273425" cy="907125"/>
          </a:xfrm>
        </p:grpSpPr>
        <p:graphicFrame>
          <p:nvGraphicFramePr>
            <p:cNvPr id="14" name="Object 0">
              <a:extLst>
                <a:ext uri="{FF2B5EF4-FFF2-40B4-BE49-F238E27FC236}">
                  <a16:creationId xmlns="" xmlns:a16="http://schemas.microsoft.com/office/drawing/2014/main" id="{834FED68-528F-4C70-AB51-2BCD2C75C7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84182253"/>
                </p:ext>
              </p:extLst>
            </p:nvPr>
          </p:nvGraphicFramePr>
          <p:xfrm>
            <a:off x="1016000" y="3405188"/>
            <a:ext cx="3273425" cy="4746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37" name="Equation" r:id="rId4" imgW="1574640" imgH="228600" progId="Equation.DSMT4">
                    <p:embed/>
                  </p:oleObj>
                </mc:Choice>
                <mc:Fallback>
                  <p:oleObj name="Equation" r:id="rId4" imgW="1574640" imgH="228600" progId="Equation.DSMT4">
                    <p:embed/>
                    <p:pic>
                      <p:nvPicPr>
                        <p:cNvPr id="19" name="Object 0">
                          <a:extLst>
                            <a:ext uri="{FF2B5EF4-FFF2-40B4-BE49-F238E27FC236}">
                              <a16:creationId xmlns="" xmlns:a16="http://schemas.microsoft.com/office/drawing/2014/main" id="{03F5C4E6-8DBA-437B-A32B-141845FD146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6000" y="3405188"/>
                          <a:ext cx="3273425" cy="4746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0">
              <a:extLst>
                <a:ext uri="{FF2B5EF4-FFF2-40B4-BE49-F238E27FC236}">
                  <a16:creationId xmlns="" xmlns:a16="http://schemas.microsoft.com/office/drawing/2014/main" id="{6C983D6E-6FFC-4B1D-9C18-0105BC71768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32976539"/>
                </p:ext>
              </p:extLst>
            </p:nvPr>
          </p:nvGraphicFramePr>
          <p:xfrm>
            <a:off x="1016000" y="3842413"/>
            <a:ext cx="2562225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38" name="Equation" r:id="rId6" imgW="1244520" imgH="228600" progId="Equation.DSMT4">
                    <p:embed/>
                  </p:oleObj>
                </mc:Choice>
                <mc:Fallback>
                  <p:oleObj name="Equation" r:id="rId6" imgW="1244520" imgH="228600" progId="Equation.DSMT4">
                    <p:embed/>
                    <p:pic>
                      <p:nvPicPr>
                        <p:cNvPr id="20" name="Object 0">
                          <a:extLst>
                            <a:ext uri="{FF2B5EF4-FFF2-40B4-BE49-F238E27FC236}">
                              <a16:creationId xmlns="" xmlns:a16="http://schemas.microsoft.com/office/drawing/2014/main" id="{FAD8EF68-56B9-4039-BE7A-FE945679F73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6000" y="3842413"/>
                          <a:ext cx="2562225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Text Box 4">
            <a:extLst>
              <a:ext uri="{FF2B5EF4-FFF2-40B4-BE49-F238E27FC236}">
                <a16:creationId xmlns="" xmlns:a16="http://schemas.microsoft.com/office/drawing/2014/main" id="{1646FF27-AA31-49F8-8151-EE6B483A57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8549" y="1728763"/>
            <a:ext cx="18436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a=[2, 4, 6, 8]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Box 4">
            <a:extLst>
              <a:ext uri="{FF2B5EF4-FFF2-40B4-BE49-F238E27FC236}">
                <a16:creationId xmlns="" xmlns:a16="http://schemas.microsoft.com/office/drawing/2014/main" id="{E5F73B19-AF9A-4A8A-8A0C-E264EA050A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7983" y="2140850"/>
            <a:ext cx="17516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b=[3, 6, 9]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Box 4">
            <a:extLst>
              <a:ext uri="{FF2B5EF4-FFF2-40B4-BE49-F238E27FC236}">
                <a16:creationId xmlns="" xmlns:a16="http://schemas.microsoft.com/office/drawing/2014/main" id="{AB89836E-63BB-4F68-89EE-EBC23B469B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7983" y="2623017"/>
            <a:ext cx="17516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c=a+[0, b]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Box 4">
            <a:extLst>
              <a:ext uri="{FF2B5EF4-FFF2-40B4-BE49-F238E27FC236}">
                <a16:creationId xmlns="" xmlns:a16="http://schemas.microsoft.com/office/drawing/2014/main" id="{208A5A92-AF07-4BAF-8A58-E1DF843B6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8549" y="3108054"/>
            <a:ext cx="17516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d=conv(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Box 4">
            <a:extLst>
              <a:ext uri="{FF2B5EF4-FFF2-40B4-BE49-F238E27FC236}">
                <a16:creationId xmlns="" xmlns:a16="http://schemas.microsoft.com/office/drawing/2014/main" id="{8CC21261-2B66-496E-8303-03C5082CF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8548" y="3569719"/>
            <a:ext cx="252028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q,r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]=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deconv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d,a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Box 4">
            <a:extLst>
              <a:ext uri="{FF2B5EF4-FFF2-40B4-BE49-F238E27FC236}">
                <a16:creationId xmlns="" xmlns:a16="http://schemas.microsoft.com/office/drawing/2014/main" id="{2E57A721-AF1E-400F-9FFA-03A40A108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7983" y="4024318"/>
            <a:ext cx="252028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q,r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]=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deconv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299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="" xmlns:a16="http://schemas.microsoft.com/office/drawing/2014/main" id="{F148CFFD-5483-4BBF-BC56-46A207A198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82123" y="253264"/>
            <a:ext cx="46456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</a:rPr>
              <a:t>2.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</a:rPr>
              <a:t>多项式求导、求根和求值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900112" y="919364"/>
            <a:ext cx="42160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 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多项式求导：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polyder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903620" y="1381029"/>
            <a:ext cx="3613704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 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多项式求根：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roots(a)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endParaRPr lang="zh-CN" altLang="en-US" sz="2400" dirty="0">
              <a:solidFill>
                <a:srgbClr val="FF3300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900112" y="2295429"/>
            <a:ext cx="428486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 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多项式求值：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polyval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a,xv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900112" y="1838229"/>
            <a:ext cx="48609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FF33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 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由根求多项式系数：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poly(a)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Box 7">
            <a:extLst>
              <a:ext uri="{FF2B5EF4-FFF2-40B4-BE49-F238E27FC236}">
                <a16:creationId xmlns="" xmlns:a16="http://schemas.microsoft.com/office/drawing/2014/main" id="{5CEE6525-9B12-4E11-B818-65D648E8F4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2605" y="2836159"/>
            <a:ext cx="48609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给多项式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中的自变量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赋予值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xv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49942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F148CFFD-5483-4BBF-BC56-46A207A198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82123" y="253264"/>
            <a:ext cx="46456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</a:rPr>
              <a:t>2.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</a:rPr>
              <a:t>多项式求导、求根和求值</a:t>
            </a:r>
          </a:p>
        </p:txBody>
      </p:sp>
      <p:sp>
        <p:nvSpPr>
          <p:cNvPr id="11" name="Text Box 3">
            <a:extLst>
              <a:ext uri="{FF2B5EF4-FFF2-40B4-BE49-F238E27FC236}">
                <a16:creationId xmlns="" xmlns:a16="http://schemas.microsoft.com/office/drawing/2014/main" id="{51B20E99-8132-4659-BA3F-4448C1AA81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036" y="867486"/>
            <a:ext cx="14376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例</a:t>
            </a:r>
            <a:r>
              <a:rPr lang="en-US" altLang="zh-CN" sz="2400" dirty="0" smtClean="0">
                <a:solidFill>
                  <a:srgbClr val="C0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5.2-2</a:t>
            </a:r>
            <a:endParaRPr lang="zh-CN" altLang="en-US" sz="2400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3" name="Object 0">
            <a:extLst>
              <a:ext uri="{FF2B5EF4-FFF2-40B4-BE49-F238E27FC236}">
                <a16:creationId xmlns="" xmlns:a16="http://schemas.microsoft.com/office/drawing/2014/main" id="{834FED68-528F-4C70-AB51-2BCD2C75C7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5369759"/>
              </p:ext>
            </p:extLst>
          </p:nvPr>
        </p:nvGraphicFramePr>
        <p:xfrm>
          <a:off x="2192677" y="873765"/>
          <a:ext cx="3273425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Equation" r:id="rId4" imgW="1574640" imgH="228600" progId="Equation.DSMT4">
                  <p:embed/>
                </p:oleObj>
              </mc:Choice>
              <mc:Fallback>
                <p:oleObj name="Equation" r:id="rId4" imgW="15746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2677" y="873765"/>
                        <a:ext cx="3273425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4">
            <a:extLst>
              <a:ext uri="{FF2B5EF4-FFF2-40B4-BE49-F238E27FC236}">
                <a16:creationId xmlns="" xmlns:a16="http://schemas.microsoft.com/office/drawing/2014/main" id="{1646FF27-AA31-49F8-8151-EE6B483A57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817" y="1506914"/>
            <a:ext cx="2520280" cy="2121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a=[2, 4, 6, 8</a:t>
            </a:r>
            <a:r>
              <a:rPr lang="en-US" altLang="zh-CN" sz="24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eaLnBrk="1" hangingPunct="1"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a1=</a:t>
            </a:r>
            <a:r>
              <a:rPr lang="en-US" altLang="zh-CN" sz="2400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polyder</a:t>
            </a:r>
            <a:r>
              <a:rPr lang="en-US" altLang="zh-CN" sz="24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  <a:p>
            <a:pPr eaLnBrk="1" hangingPunct="1"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a2=roots(a)</a:t>
            </a:r>
          </a:p>
          <a:p>
            <a:pPr eaLnBrk="1" hangingPunct="1"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a3=poly(a2)</a:t>
            </a:r>
          </a:p>
          <a:p>
            <a:pPr eaLnBrk="1" hangingPunct="1"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a4=</a:t>
            </a:r>
            <a:r>
              <a:rPr lang="en-US" altLang="zh-CN" sz="2400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polyval</a:t>
            </a:r>
            <a:r>
              <a:rPr lang="en-US" altLang="zh-CN" sz="24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(a,1)</a:t>
            </a:r>
            <a:r>
              <a:rPr lang="zh-CN" altLang="en-US" sz="24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024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="" xmlns:a16="http://schemas.microsoft.com/office/drawing/2014/main" id="{CC2F57EA-BA13-4B6C-97F5-92578F3906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93001" y="215751"/>
            <a:ext cx="26294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kern="0" dirty="0">
                <a:solidFill>
                  <a:srgbClr val="0000FF"/>
                </a:solidFill>
                <a:latin typeface="宋体" panose="02010600030101010101" pitchFamily="2" charset="-122"/>
              </a:rPr>
              <a:t>3.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</a:rPr>
              <a:t>多项式拟合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396267" y="1735484"/>
            <a:ext cx="25009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p=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polyfit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x,y,n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755650" y="1273819"/>
            <a:ext cx="62327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</a:rPr>
              <a:t>拟合方法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</a:rPr>
              <a:t>：使方差最小，应用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最小二乘法。</a:t>
            </a:r>
            <a:endParaRPr lang="en-US" altLang="zh-CN" sz="24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Text Box 6">
            <a:extLst>
              <a:ext uri="{FF2B5EF4-FFF2-40B4-BE49-F238E27FC236}">
                <a16:creationId xmlns="" xmlns:a16="http://schemas.microsoft.com/office/drawing/2014/main" id="{0DCF83AC-96CC-413E-8A98-55909EB8A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802629"/>
            <a:ext cx="64936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拟合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</a:rPr>
              <a:t>：根据一组已知的数据找到其数学表达式。</a:t>
            </a:r>
            <a:endParaRPr lang="en-US" altLang="zh-CN" sz="24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0" name="Text Box 5">
            <a:extLst>
              <a:ext uri="{FF2B5EF4-FFF2-40B4-BE49-F238E27FC236}">
                <a16:creationId xmlns="" xmlns:a16="http://schemas.microsoft.com/office/drawing/2014/main" id="{C91C103D-E76E-4862-920B-9D0B85C7C9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638" y="2243315"/>
            <a:ext cx="6026724" cy="878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50000"/>
              </a:spcBef>
            </a:pPr>
            <a:r>
              <a:rPr lang="en-US" altLang="zh-CN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 err="1">
                <a:solidFill>
                  <a:srgbClr val="000000"/>
                </a:solidFill>
                <a:latin typeface="宋体" panose="02010600030101010101" pitchFamily="2" charset="-122"/>
              </a:rPr>
              <a:t>,</a:t>
            </a:r>
            <a:r>
              <a:rPr lang="en-US" altLang="zh-CN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是已知的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个数据点坐标向量，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是拟合的多项式次数，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是求出的多项式系数向量。</a:t>
            </a:r>
          </a:p>
        </p:txBody>
      </p:sp>
    </p:spTree>
    <p:extLst>
      <p:ext uri="{BB962C8B-B14F-4D97-AF65-F5344CB8AC3E}">
        <p14:creationId xmlns:p14="http://schemas.microsoft.com/office/powerpoint/2010/main" val="3156897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="" xmlns:a16="http://schemas.microsoft.com/office/drawing/2014/main" id="{805D744F-51DB-40DE-8A23-6C0E7F3DF6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="" xmlns:a16="http://schemas.microsoft.com/office/drawing/2014/main" id="{B388F87A-AEFC-4131-9DC7-B5781391A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001" y="215751"/>
            <a:ext cx="26294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kern="0" dirty="0">
                <a:solidFill>
                  <a:srgbClr val="0000FF"/>
                </a:solidFill>
                <a:latin typeface="宋体" panose="02010600030101010101" pitchFamily="2" charset="-122"/>
              </a:rPr>
              <a:t>3.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</a:rPr>
              <a:t>多项式拟合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12" name="Text Box 3">
            <a:extLst>
              <a:ext uri="{FF2B5EF4-FFF2-40B4-BE49-F238E27FC236}">
                <a16:creationId xmlns="" xmlns:a16="http://schemas.microsoft.com/office/drawing/2014/main" id="{FC26DC21-7991-4E6B-924C-3738F4A2A9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696" y="770624"/>
            <a:ext cx="14376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C0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例</a:t>
            </a:r>
            <a:r>
              <a:rPr lang="en-US" altLang="zh-CN" sz="2400" dirty="0" smtClean="0">
                <a:solidFill>
                  <a:srgbClr val="C0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5.2-3</a:t>
            </a:r>
            <a:endParaRPr lang="zh-CN" altLang="en-US" sz="2400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13" name="Text Box 5">
            <a:extLst>
              <a:ext uri="{FF2B5EF4-FFF2-40B4-BE49-F238E27FC236}">
                <a16:creationId xmlns="" xmlns:a16="http://schemas.microsoft.com/office/drawing/2014/main" id="{BA79E92C-8071-4978-8F5F-206BBD5E6C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4613" y="789674"/>
            <a:ext cx="5112568" cy="468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5000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在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</a:rPr>
              <a:t>11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个点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x=0:0.1:1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</a:rPr>
              <a:t>上测得的数值为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Box 5">
            <a:extLst>
              <a:ext uri="{FF2B5EF4-FFF2-40B4-BE49-F238E27FC236}">
                <a16:creationId xmlns="" xmlns:a16="http://schemas.microsoft.com/office/drawing/2014/main" id="{A4D65A37-8753-4AE9-A85E-31CBDFAA4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7723" y="1196881"/>
            <a:ext cx="5269383" cy="882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y=[0.447,1.978,3.28,6.16,7.01,7.32,7.66,9.56,9.48,9.30,11.2]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Box 5">
            <a:extLst>
              <a:ext uri="{FF2B5EF4-FFF2-40B4-BE49-F238E27FC236}">
                <a16:creationId xmlns="" xmlns:a16="http://schemas.microsoft.com/office/drawing/2014/main" id="{7F2AA048-DD7B-4F13-A2B8-C1B20B34F1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2907" y="2066951"/>
            <a:ext cx="4206543" cy="468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5000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试用最小二乘法求拟合曲线。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Box 5">
            <a:extLst>
              <a:ext uri="{FF2B5EF4-FFF2-40B4-BE49-F238E27FC236}">
                <a16:creationId xmlns="" xmlns:a16="http://schemas.microsoft.com/office/drawing/2014/main" id="{2C742148-54D6-4420-B8F7-68FF2E493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4516" y="3389064"/>
            <a:ext cx="3039154" cy="1231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a1=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polyfit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(x,y,1</a:t>
            </a:r>
            <a:r>
              <a:rPr lang="en-US" altLang="zh-CN" sz="24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eaLnBrk="1" hangingPunct="1"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yi1=</a:t>
            </a:r>
            <a:r>
              <a:rPr lang="en-US" altLang="zh-CN" sz="2400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polyval</a:t>
            </a:r>
            <a:r>
              <a:rPr lang="en-US" altLang="zh-CN" sz="24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(a1,xi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eaLnBrk="1" hangingPunct="1"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plot(x,y,’o</a:t>
            </a:r>
            <a:r>
              <a:rPr lang="en-US" altLang="zh-CN" sz="24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’,xi,yi1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,’b’)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Box 5">
            <a:extLst>
              <a:ext uri="{FF2B5EF4-FFF2-40B4-BE49-F238E27FC236}">
                <a16:creationId xmlns="" xmlns:a16="http://schemas.microsoft.com/office/drawing/2014/main" id="{185D05DE-3D6D-4942-AD07-9BCAE52E4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7213" y="2546516"/>
            <a:ext cx="2232248" cy="468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500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线性拟合程序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278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385FE147-85EC-4D5D-833A-2118CD16E6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198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视频录制PPT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视频录制PPT模板</Template>
  <TotalTime>1724</TotalTime>
  <Words>374</Words>
  <Application>Microsoft Office PowerPoint</Application>
  <PresentationFormat>自定义</PresentationFormat>
  <Paragraphs>59</Paragraphs>
  <Slides>10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华文楷体</vt:lpstr>
      <vt:lpstr>宋体</vt:lpstr>
      <vt:lpstr>Arial</vt:lpstr>
      <vt:lpstr>Calibri</vt:lpstr>
      <vt:lpstr>Symbol</vt:lpstr>
      <vt:lpstr>Times New Roman</vt:lpstr>
      <vt:lpstr>视频录制PPT模板</vt:lpstr>
      <vt:lpstr>Equation</vt:lpstr>
      <vt:lpstr>PowerPoint 演示文稿</vt:lpstr>
      <vt:lpstr>主要内容</vt:lpstr>
      <vt:lpstr>1. 多项式的四则运算</vt:lpstr>
      <vt:lpstr>1. 多项式的四则运算</vt:lpstr>
      <vt:lpstr>1. 多项式的四则运算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nenu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dbpu</dc:creator>
  <cp:lastModifiedBy>Windows 用户</cp:lastModifiedBy>
  <cp:revision>332</cp:revision>
  <dcterms:created xsi:type="dcterms:W3CDTF">2016-01-02T09:31:00Z</dcterms:created>
  <dcterms:modified xsi:type="dcterms:W3CDTF">2021-03-29T09:24:36Z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2052-10.1.0.6030</vt:lpwstr>
  </property>
</Properties>
</file>