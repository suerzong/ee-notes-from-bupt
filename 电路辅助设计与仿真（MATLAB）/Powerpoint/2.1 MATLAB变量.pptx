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6" r:id="rId2"/>
    <p:sldId id="312" r:id="rId3"/>
    <p:sldId id="313" r:id="rId4"/>
    <p:sldId id="314" r:id="rId5"/>
    <p:sldId id="307" r:id="rId6"/>
    <p:sldId id="315" r:id="rId7"/>
    <p:sldId id="318" r:id="rId8"/>
    <p:sldId id="316" r:id="rId9"/>
    <p:sldId id="308" r:id="rId10"/>
    <p:sldId id="310" r:id="rId11"/>
    <p:sldId id="317" r:id="rId1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5"/>
            <p14:sldId id="318"/>
            <p14:sldId id="316"/>
            <p14:sldId id="308"/>
            <p14:sldId id="310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87801" autoAdjust="0"/>
  </p:normalViewPr>
  <p:slideViewPr>
    <p:cSldViewPr>
      <p:cViewPr varScale="1">
        <p:scale>
          <a:sx n="112" d="100"/>
          <a:sy n="112" d="100"/>
        </p:scale>
        <p:origin x="72" y="160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F3CCEDC-5A03-4F25-AFCC-FCC5C8441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60637" y="2303983"/>
            <a:ext cx="295232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变量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EDA2E59-0AED-46A7-B53F-6721351A6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4104402" cy="33843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的特殊常量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变量的命名规则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变量的定义与赋值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变量的显示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变量的存取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变量的清除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变量的检查</a:t>
            </a: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E5E42F5-517E-41FC-8382-BDEA521E7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MATLAB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的特殊常量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BBD6708-18BF-41EC-AD6B-EF1AE34E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6" y="935831"/>
            <a:ext cx="5832648" cy="45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特殊常量是一些预先定义好的数值变量。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4D6A647-7252-46A8-93A7-080FAF388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3634"/>
              </p:ext>
            </p:extLst>
          </p:nvPr>
        </p:nvGraphicFramePr>
        <p:xfrm>
          <a:off x="1080517" y="1513840"/>
          <a:ext cx="554461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1698">
                  <a:extLst>
                    <a:ext uri="{9D8B030D-6E8A-4147-A177-3AD203B41FA5}">
                      <a16:colId xmlns:a16="http://schemas.microsoft.com/office/drawing/2014/main" val="3651630083"/>
                    </a:ext>
                  </a:extLst>
                </a:gridCol>
                <a:gridCol w="1202919">
                  <a:extLst>
                    <a:ext uri="{9D8B030D-6E8A-4147-A177-3AD203B41FA5}">
                      <a16:colId xmlns:a16="http://schemas.microsoft.com/office/drawing/2014/main" val="1364380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FF00"/>
                          </a:solidFill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2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圆周率</a:t>
                      </a:r>
                      <a:r>
                        <a:rPr lang="zh-CN" altLang="en-US" sz="2400" b="1" dirty="0">
                          <a:sym typeface="Symbol" panose="05050102010706020507" pitchFamily="18" charset="2"/>
                        </a:rPr>
                        <a:t>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13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机器的浮点运算误差限，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2.2204e-016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eps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48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虚数单位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1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无穷大量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+∞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72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非数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14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默认结果存储变量（临时变量）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1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9F3AC50-C232-4AE2-B85D-567976B9C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619" y="-72281"/>
            <a:ext cx="11520311" cy="6480175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B17319A2-1861-4CA1-8047-321941052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69" y="1322598"/>
            <a:ext cx="608493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变量名由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大、小写的英文字母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、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阿拉</a:t>
            </a:r>
            <a:endParaRPr lang="en-US" altLang="zh-CN" sz="2400" b="1" kern="0" dirty="0">
              <a:solidFill>
                <a:srgbClr val="000000"/>
              </a:solidFill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+mn-ea"/>
              </a:rPr>
              <a:t>   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  伯数字和下划线等组成，但</a:t>
            </a: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</a:rPr>
              <a:t>第一个必</a:t>
            </a:r>
            <a:endParaRPr lang="en-US" altLang="zh-CN" sz="2400" b="1" kern="0" dirty="0">
              <a:solidFill>
                <a:srgbClr val="FF3300"/>
              </a:solidFill>
              <a:latin typeface="+mn-ea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0" dirty="0">
                <a:solidFill>
                  <a:srgbClr val="FF3300"/>
                </a:solidFill>
                <a:latin typeface="+mn-ea"/>
                <a:ea typeface="+mn-ea"/>
              </a:rPr>
              <a:t>     </a:t>
            </a: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</a:rPr>
              <a:t>须是英文字母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C0578E-D4B8-4E46-A529-2198B988A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变量的命名规则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07AD3DE0-8A25-4D06-9572-C362A1D0B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" y="791345"/>
            <a:ext cx="608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所有的变量都表示一个矩阵或一个向量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ABA0821-F77A-4D2A-A5F2-60FC3DF37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69" y="2552494"/>
            <a:ext cx="43532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变量名区分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大、小写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E23DF46F-EBCA-4D8D-9A74-460E04869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69" y="3094084"/>
            <a:ext cx="6084936" cy="79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变量名不能是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的命令、函数、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文件名，以免引起逻辑运行错误。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9CF4B6A-8AA4-461A-8F07-049939421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69" y="3888340"/>
            <a:ext cx="608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变量名的长度不能超过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31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个字符。</a:t>
            </a:r>
          </a:p>
        </p:txBody>
      </p: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7DCF51A8-9292-4F9F-99A0-72EA687D8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363"/>
            <a:ext cx="11520311" cy="6480175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7F24C130-E718-410F-B9EA-E116084C1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变量的定义与赋值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98A83CB1-2742-438E-9CDB-CD8D5A6CB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" y="791345"/>
            <a:ext cx="6327468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变量不需要先定义后使用，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会自动根据实际赋值的类型对变量类型进行定义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5DA887-8E09-439A-A2AF-6E5B7965A192}"/>
              </a:ext>
            </a:extLst>
          </p:cNvPr>
          <p:cNvGrpSpPr/>
          <p:nvPr/>
        </p:nvGrpSpPr>
        <p:grpSpPr>
          <a:xfrm>
            <a:off x="712733" y="1694028"/>
            <a:ext cx="4588112" cy="998497"/>
            <a:chOff x="712733" y="1694028"/>
            <a:chExt cx="4588112" cy="998497"/>
          </a:xfrm>
        </p:grpSpPr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81800088-D501-46DE-8F87-9752F4228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33" y="1694028"/>
              <a:ext cx="3820991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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赋值语句的一般形式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5E09BD1-F1A6-476A-AF43-14299BDC8171}"/>
                </a:ext>
              </a:extLst>
            </p:cNvPr>
            <p:cNvSpPr/>
            <p:nvPr/>
          </p:nvSpPr>
          <p:spPr>
            <a:xfrm>
              <a:off x="1713003" y="2230860"/>
              <a:ext cx="35878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0" dirty="0">
                  <a:solidFill>
                    <a:srgbClr val="FF3300"/>
                  </a:solidFill>
                  <a:latin typeface="+mn-ea"/>
                  <a:sym typeface="Symbol" panose="05050102010706020507" pitchFamily="18" charset="2"/>
                </a:rPr>
                <a:t>变量＝数、字符或表达式</a:t>
              </a:r>
              <a:endParaRPr lang="zh-CN" altLang="en-US" sz="24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A9AE49-D114-42DC-AECD-5BE3F5F39D00}"/>
              </a:ext>
            </a:extLst>
          </p:cNvPr>
          <p:cNvGrpSpPr/>
          <p:nvPr/>
        </p:nvGrpSpPr>
        <p:grpSpPr>
          <a:xfrm>
            <a:off x="1692897" y="2692525"/>
            <a:ext cx="2603629" cy="1397106"/>
            <a:chOff x="1692897" y="2692525"/>
            <a:chExt cx="2603629" cy="1397106"/>
          </a:xfrm>
        </p:grpSpPr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1F7EE131-06F2-42E0-B908-1A387898E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897" y="2692525"/>
              <a:ext cx="864096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a=1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0">
              <a:extLst>
                <a:ext uri="{FF2B5EF4-FFF2-40B4-BE49-F238E27FC236}">
                  <a16:creationId xmlns:a16="http://schemas.microsoft.com/office/drawing/2014/main" id="{47EA107B-AA36-4319-B9F9-7EC839E2A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897" y="3149725"/>
              <a:ext cx="258352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x=‘s’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0">
              <a:extLst>
                <a:ext uri="{FF2B5EF4-FFF2-40B4-BE49-F238E27FC236}">
                  <a16:creationId xmlns:a16="http://schemas.microsoft.com/office/drawing/2014/main" id="{8DB06E74-3FD0-4D0C-B79D-3D2A2636C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3003" y="3627966"/>
              <a:ext cx="258352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y=(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1+2+3)/5*4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 Box 8">
            <a:extLst>
              <a:ext uri="{FF2B5EF4-FFF2-40B4-BE49-F238E27FC236}">
                <a16:creationId xmlns:a16="http://schemas.microsoft.com/office/drawing/2014/main" id="{6FA6B1C3-316D-4C47-AA07-271577BB3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752" y="4133916"/>
            <a:ext cx="57426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注意：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单引号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必须在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英文状态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下输入；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数值变量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的类型自动定义为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双精度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变量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C86CBA83-8283-4CAA-A779-0055D4442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A1D847D-C61E-43AE-9C24-4E08E969B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变量的显示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AC93AED8-1656-4FFE-949D-BE391F7D1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" y="791345"/>
            <a:ext cx="6327468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显示格式：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中的数据存储和计算都以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双精度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进行，但可以利用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命令调整数据的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显示格式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9B8503BF-8224-4C3E-877A-BFE074D40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" y="2080461"/>
            <a:ext cx="6327468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变量的显示命令：直接在命令行输入变量名并回车即可。用</a:t>
            </a:r>
            <a:r>
              <a:rPr lang="en-US" altLang="zh-CN" sz="24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函数可以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紧凑型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格式显示结果而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不输出变量名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86CBA83-8283-4CAA-A779-0055D4442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A1D847D-C61E-43AE-9C24-4E08E969B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变量的显示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EFEF3007-638C-4496-949E-316E75357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804" y="1404696"/>
            <a:ext cx="528689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 magic(3)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disp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这是一个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行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列的魔方矩阵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disp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(A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3DDDA32-ECEB-4DA3-BC7D-A45CE0EE9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5" y="2952055"/>
            <a:ext cx="5742691" cy="91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注意：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语句后面加分号“</a:t>
            </a:r>
            <a:r>
              <a:rPr lang="en-US" altLang="zh-C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”将不显示数值运行结果；否则显示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2485" y="918998"/>
            <a:ext cx="1207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2-1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875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87B1F531-F04F-4148-B136-036263AF4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83E29B4-1BEF-4672-97F8-53CAB4D85C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变量的存取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D4D11DF6-DCB5-449E-B7F4-F7F3F7E1B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77" y="791345"/>
            <a:ext cx="6327468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可以通过多种方式实现一个或多个变量的选择性存取：命令和快捷方式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9A3C75F4-BB9E-4116-B06A-74A16DF86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92" y="1741842"/>
            <a:ext cx="6327468" cy="79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命令：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实现从内存到硬盘的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实现从硬盘到内存的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载入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91E3E1-D155-4A93-91A8-B6D306E875C0}"/>
              </a:ext>
            </a:extLst>
          </p:cNvPr>
          <p:cNvGrpSpPr/>
          <p:nvPr/>
        </p:nvGrpSpPr>
        <p:grpSpPr>
          <a:xfrm>
            <a:off x="1140851" y="2557767"/>
            <a:ext cx="4324231" cy="888973"/>
            <a:chOff x="1148774" y="2642441"/>
            <a:chExt cx="4324231" cy="888973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F1A2BBDB-2F5E-4C2A-8BB8-27249681C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645" y="2737158"/>
              <a:ext cx="3240360" cy="794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load   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文件名  变量名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save  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文件名  变量名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1E5B06E4-204D-457F-BD23-143FFB4C5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774" y="2642441"/>
              <a:ext cx="1155880" cy="452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3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格式</a:t>
              </a:r>
              <a:r>
                <a:rPr lang="en-US" altLang="zh-CN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1</a:t>
              </a:r>
              <a:r>
                <a:rPr lang="zh-CN" altLang="en-US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FB82F4-0929-49DD-BD8D-3154DBB22DAF}"/>
              </a:ext>
            </a:extLst>
          </p:cNvPr>
          <p:cNvGrpSpPr/>
          <p:nvPr/>
        </p:nvGrpSpPr>
        <p:grpSpPr>
          <a:xfrm>
            <a:off x="1138936" y="3448891"/>
            <a:ext cx="5798582" cy="943236"/>
            <a:chOff x="1138936" y="3448891"/>
            <a:chExt cx="5798582" cy="943236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33D3A8AE-5438-4804-B551-C42656A34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879" y="3602167"/>
              <a:ext cx="4746639" cy="789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S=load(‘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文件名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’,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格式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’,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变量名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’) 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save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(‘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文件名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’,‘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格式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’,‘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变量名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’) </a:t>
              </a:r>
              <a:endPara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C605102-18A0-455F-ABB3-A4FF6226F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936" y="3448891"/>
              <a:ext cx="1155880" cy="452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3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格式</a:t>
              </a:r>
              <a:r>
                <a:rPr lang="en-US" altLang="zh-CN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2</a:t>
              </a:r>
              <a:r>
                <a:rPr lang="zh-CN" altLang="en-US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8" name="Text Box 6">
            <a:extLst>
              <a:ext uri="{FF2B5EF4-FFF2-40B4-BE49-F238E27FC236}">
                <a16:creationId xmlns:a16="http://schemas.microsoft.com/office/drawing/2014/main" id="{9448B9C7-2920-4784-A5FC-6F10B695B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92" y="4396423"/>
            <a:ext cx="4828907" cy="46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快捷方式：利用工作空间窗口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EDFAB2E-9E85-4801-860F-6CB5C9B22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E4912DAE-CC8A-48FC-9A8B-4ED2DE92F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282681"/>
            <a:ext cx="2594228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变量的清除</a:t>
            </a: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4292F303-6A3A-4FF4-B1BD-610189616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14" y="849723"/>
            <a:ext cx="6327468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命令可以删除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多个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所有变量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653A91-2A00-4644-ADF1-A57EF37C8031}"/>
              </a:ext>
            </a:extLst>
          </p:cNvPr>
          <p:cNvGrpSpPr/>
          <p:nvPr/>
        </p:nvGrpSpPr>
        <p:grpSpPr>
          <a:xfrm>
            <a:off x="1143239" y="1319794"/>
            <a:ext cx="4401774" cy="1356919"/>
            <a:chOff x="1143239" y="1319794"/>
            <a:chExt cx="4401774" cy="1356919"/>
          </a:xfrm>
        </p:grpSpPr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6F391245-C01C-405E-8493-F53D47018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629" y="1445607"/>
              <a:ext cx="3456384" cy="1231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clear  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变量名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; 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clear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变量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变量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2;</a:t>
              </a:r>
            </a:p>
            <a:p>
              <a:pPr>
                <a:lnSpc>
                  <a:spcPts val="2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clear  all</a:t>
              </a:r>
              <a:endPara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598A860B-F4FD-476F-97F3-20CF4E487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239" y="1319794"/>
              <a:ext cx="1155880" cy="452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3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+mn-ea"/>
                  <a:ea typeface="+mn-ea"/>
                  <a:sym typeface="Symbol" panose="05050102010706020507" pitchFamily="18" charset="2"/>
                </a:rPr>
                <a:t>格式：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31" name="Text Box 6">
            <a:extLst>
              <a:ext uri="{FF2B5EF4-FFF2-40B4-BE49-F238E27FC236}">
                <a16:creationId xmlns:a16="http://schemas.microsoft.com/office/drawing/2014/main" id="{B76858D3-4CA5-47D0-8368-D64F6589B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87" y="2717220"/>
            <a:ext cx="6093949" cy="878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注意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clear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是从内存中删除变量，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是从硬盘上删除数据文件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066117F-0D57-4B27-A716-78DD55598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64493" y="1545337"/>
            <a:ext cx="410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who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：显示前面用过的变量。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Text Box 1024"/>
          <p:cNvSpPr txBox="1">
            <a:spLocks noChangeArrowheads="1"/>
          </p:cNvSpPr>
          <p:nvPr/>
        </p:nvSpPr>
        <p:spPr bwMode="auto">
          <a:xfrm>
            <a:off x="864493" y="2015951"/>
            <a:ext cx="640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whos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：显示前面用过的变量及其详细特征。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9D78FFF-CEAD-4338-B17A-0A07A484C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9214" y="298371"/>
            <a:ext cx="2594228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变量的检查</a:t>
            </a:r>
          </a:p>
        </p:txBody>
      </p:sp>
      <p:sp>
        <p:nvSpPr>
          <p:cNvPr id="11" name="Text Box 1024">
            <a:extLst>
              <a:ext uri="{FF2B5EF4-FFF2-40B4-BE49-F238E27FC236}">
                <a16:creationId xmlns:a16="http://schemas.microsoft.com/office/drawing/2014/main" id="{FA525CF9-CA80-43ED-A31D-3C6EC1E2B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54" y="927440"/>
            <a:ext cx="48229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检查工作空间中的变量及其阶数。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43E050A3-94B8-4C68-B9BA-37F015C0A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54" y="2703344"/>
            <a:ext cx="6289544" cy="789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注意：</a:t>
            </a:r>
            <a:r>
              <a:rPr lang="en-US" altLang="zh-C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MATLAB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中所有的命令和函数都用</a:t>
            </a:r>
            <a:endParaRPr lang="en-US" altLang="zh-CN" sz="2400" b="1" kern="0" dirty="0">
              <a:solidFill>
                <a:schemeClr val="bg1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      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小写字母表示</a:t>
            </a:r>
            <a:r>
              <a:rPr lang="zh-CN" altLang="en-US" sz="2400" b="1" kern="0" dirty="0">
                <a:solidFill>
                  <a:schemeClr val="bg1"/>
                </a:solidFill>
                <a:latin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D5851F9-6CCF-4DD5-B4C0-550FDE599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46552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276</TotalTime>
  <Words>549</Words>
  <Application>Microsoft Office PowerPoint</Application>
  <PresentationFormat>自定义</PresentationFormat>
  <Paragraphs>75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华文楷体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1. MATLAB的特殊常量</vt:lpstr>
      <vt:lpstr>2. 变量的命名规则</vt:lpstr>
      <vt:lpstr>3. 变量的定义与赋值</vt:lpstr>
      <vt:lpstr>4. 变量的显示</vt:lpstr>
      <vt:lpstr>4. 变量的显示</vt:lpstr>
      <vt:lpstr>5. 变量的存取</vt:lpstr>
      <vt:lpstr>6. 变量的清除</vt:lpstr>
      <vt:lpstr>7. 变量的检查</vt:lpstr>
      <vt:lpstr>PowerPoint 演示文稿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恩泽 宋</cp:lastModifiedBy>
  <cp:revision>328</cp:revision>
  <dcterms:created xsi:type="dcterms:W3CDTF">2016-01-02T09:31:00Z</dcterms:created>
  <dcterms:modified xsi:type="dcterms:W3CDTF">2026-04-22T07:14:35Z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