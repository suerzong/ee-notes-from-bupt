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314" r:id="rId2"/>
    <p:sldId id="312" r:id="rId3"/>
    <p:sldId id="307" r:id="rId4"/>
    <p:sldId id="308" r:id="rId5"/>
    <p:sldId id="309" r:id="rId6"/>
    <p:sldId id="313" r:id="rId7"/>
    <p:sldId id="316" r:id="rId8"/>
    <p:sldId id="315" r:id="rId9"/>
    <p:sldId id="317" r:id="rId10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14"/>
            <p14:sldId id="312"/>
            <p14:sldId id="307"/>
            <p14:sldId id="308"/>
            <p14:sldId id="309"/>
            <p14:sldId id="313"/>
            <p14:sldId id="316"/>
            <p14:sldId id="315"/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9E5E3E96-59BD-4248-8EEC-427C0F33BC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xmlns="" id="{0BACDB94-3F62-48A9-9650-368A2A155347}"/>
              </a:ext>
            </a:extLst>
          </p:cNvPr>
          <p:cNvSpPr/>
          <p:nvPr/>
        </p:nvSpPr>
        <p:spPr>
          <a:xfrm>
            <a:off x="1368549" y="2375991"/>
            <a:ext cx="51283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</a:t>
            </a:r>
            <a:r>
              <a:rPr lang="zh-CN" altLang="en-US" sz="3200" b="1" dirty="0">
                <a:solidFill>
                  <a:schemeClr val="bg1"/>
                </a:solidFill>
                <a:latin typeface="+mn-ea"/>
                <a:ea typeface="+mn-ea"/>
              </a:rPr>
              <a:t>数组的创建与元素提取</a:t>
            </a:r>
          </a:p>
        </p:txBody>
      </p:sp>
    </p:spTree>
    <p:extLst>
      <p:ext uri="{BB962C8B-B14F-4D97-AF65-F5344CB8AC3E}">
        <p14:creationId xmlns:p14="http://schemas.microsoft.com/office/powerpoint/2010/main" val="1290407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2741AD70-3224-4CC4-9595-895CB2F59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19C857B7-6074-4BBD-9582-453EC73A1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xmlns="" id="{E5E1CD2F-5D15-408F-9FC4-99205643C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4896544" cy="10081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一维数组中元素的提取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1311659D-1BB5-4CAB-8E36-07B56785CA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7" name="Rectangle 4">
            <a:extLst>
              <a:ext uri="{FF2B5EF4-FFF2-40B4-BE49-F238E27FC236}">
                <a16:creationId xmlns:a16="http://schemas.microsoft.com/office/drawing/2014/main" xmlns="" id="{235020B6-5771-40A4-B295-33533243D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8" name="Text Box 10">
            <a:extLst>
              <a:ext uri="{FF2B5EF4-FFF2-40B4-BE49-F238E27FC236}">
                <a16:creationId xmlns:a16="http://schemas.microsoft.com/office/drawing/2014/main" xmlns="" id="{7AC682A8-A409-4242-BB6D-ABA95B53E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829974"/>
            <a:ext cx="53276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1.1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</a:rPr>
              <a:t>直接输入法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xmlns="" id="{A949F298-C60A-40FB-881A-B1E77139C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2436" y="1259496"/>
            <a:ext cx="6121400" cy="127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从键盘直接输入元素，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列与列之间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的数据用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逗号或空格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分隔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行与行之间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的数据用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分号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分隔。</a:t>
            </a: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xmlns="" id="{51160E02-6B29-43D1-ACC6-B66CEAFFD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566" y="2600306"/>
            <a:ext cx="161296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a=[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kern="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2;3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b=[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1,2,3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c=[1 2 3]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xmlns="" id="{2271BA95-BC21-4D8B-ACE6-D39BA288E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7328" y="2518381"/>
            <a:ext cx="21039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生成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列向量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8212013E-DF19-424D-944A-B27E6EBAA418}"/>
              </a:ext>
            </a:extLst>
          </p:cNvPr>
          <p:cNvGrpSpPr/>
          <p:nvPr/>
        </p:nvGrpSpPr>
        <p:grpSpPr>
          <a:xfrm>
            <a:off x="2860435" y="3129072"/>
            <a:ext cx="2369015" cy="601889"/>
            <a:chOff x="2860435" y="3129072"/>
            <a:chExt cx="2369015" cy="601889"/>
          </a:xfrm>
        </p:grpSpPr>
        <p:sp>
          <p:nvSpPr>
            <p:cNvPr id="24" name="Text Box 4">
              <a:extLst>
                <a:ext uri="{FF2B5EF4-FFF2-40B4-BE49-F238E27FC236}">
                  <a16:creationId xmlns:a16="http://schemas.microsoft.com/office/drawing/2014/main" xmlns="" id="{A72CEEB2-BA9B-4709-9D82-2DCF62573F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5534" y="3199183"/>
              <a:ext cx="21039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kern="0" dirty="0">
                  <a:solidFill>
                    <a:srgbClr val="000000"/>
                  </a:solidFill>
                  <a:latin typeface="+mn-ea"/>
                  <a:ea typeface="+mn-ea"/>
                </a:rPr>
                <a:t>生成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ea"/>
                  <a:ea typeface="+mn-ea"/>
                </a:rPr>
                <a:t>行向量</a:t>
              </a:r>
            </a:p>
          </p:txBody>
        </p:sp>
        <p:sp>
          <p:nvSpPr>
            <p:cNvPr id="2" name="右大括号 1">
              <a:extLst>
                <a:ext uri="{FF2B5EF4-FFF2-40B4-BE49-F238E27FC236}">
                  <a16:creationId xmlns:a16="http://schemas.microsoft.com/office/drawing/2014/main" xmlns="" id="{896CAEFE-7A37-4434-B080-202D2716967D}"/>
                </a:ext>
              </a:extLst>
            </p:cNvPr>
            <p:cNvSpPr/>
            <p:nvPr/>
          </p:nvSpPr>
          <p:spPr>
            <a:xfrm>
              <a:off x="2860435" y="3129072"/>
              <a:ext cx="246894" cy="601889"/>
            </a:xfrm>
            <a:prstGeom prst="rightBrace">
              <a:avLst/>
            </a:prstGeom>
            <a:ln w="381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800" b="1" dirty="0">
                <a:ln w="3810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</p:grpSp>
      <p:sp>
        <p:nvSpPr>
          <p:cNvPr id="25" name="Text Box 4">
            <a:extLst>
              <a:ext uri="{FF2B5EF4-FFF2-40B4-BE49-F238E27FC236}">
                <a16:creationId xmlns:a16="http://schemas.microsoft.com/office/drawing/2014/main" xmlns="" id="{AADD6A56-4D36-4B02-9C9E-AB82ECA32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501" y="3867840"/>
            <a:ext cx="6121400" cy="1272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说明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：在一行中写多条语句时，逗号和分号可作为语句间的分隔符。如果用分号，则命令窗不显示运行结果。</a:t>
            </a: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2" grpId="0"/>
      <p:bldP spid="23" grpId="0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xmlns="" id="{13A1D95A-B113-4365-96AF-B23B8C6F3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31" name="Text Box 10">
            <a:extLst>
              <a:ext uri="{FF2B5EF4-FFF2-40B4-BE49-F238E27FC236}">
                <a16:creationId xmlns:a16="http://schemas.microsoft.com/office/drawing/2014/main" xmlns="" id="{78A8C95D-D122-41DD-A11A-B539EDB83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829974"/>
            <a:ext cx="53276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1.2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</a:rPr>
              <a:t>冒号生成法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2" name="Text Box 4">
            <a:extLst>
              <a:ext uri="{FF2B5EF4-FFF2-40B4-BE49-F238E27FC236}">
                <a16:creationId xmlns:a16="http://schemas.microsoft.com/office/drawing/2014/main" xmlns="" id="{997FEA5C-5103-4894-B2A8-7A9EDB613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809" y="1312122"/>
            <a:ext cx="5050511" cy="4638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 用于产生递增或递减的等差数列。</a:t>
            </a:r>
          </a:p>
        </p:txBody>
      </p:sp>
      <p:sp>
        <p:nvSpPr>
          <p:cNvPr id="33" name="Text Box 7">
            <a:extLst>
              <a:ext uri="{FF2B5EF4-FFF2-40B4-BE49-F238E27FC236}">
                <a16:creationId xmlns:a16="http://schemas.microsoft.com/office/drawing/2014/main" xmlns="" id="{B7B18456-0804-4CEB-BD93-8348291B4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4613" y="2856328"/>
            <a:ext cx="1805467" cy="79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a=1:2:6</a:t>
            </a:r>
          </a:p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b=1:6</a:t>
            </a:r>
          </a:p>
        </p:txBody>
      </p:sp>
      <p:sp>
        <p:nvSpPr>
          <p:cNvPr id="34" name="Text Box 4">
            <a:extLst>
              <a:ext uri="{FF2B5EF4-FFF2-40B4-BE49-F238E27FC236}">
                <a16:creationId xmlns:a16="http://schemas.microsoft.com/office/drawing/2014/main" xmlns="" id="{A5DE4B5B-01D7-4790-87E7-23E09B540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3513" y="1795234"/>
            <a:ext cx="3861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格式：</a:t>
            </a:r>
            <a:r>
              <a:rPr lang="zh-CN" altLang="en-US" sz="2400" kern="0" dirty="0">
                <a:solidFill>
                  <a:srgbClr val="0000FF"/>
                </a:solidFill>
                <a:latin typeface="+mn-ea"/>
                <a:ea typeface="+mn-ea"/>
              </a:rPr>
              <a:t>初值</a:t>
            </a:r>
            <a:r>
              <a:rPr lang="en-US" altLang="zh-CN" sz="2400" kern="0" dirty="0">
                <a:solidFill>
                  <a:srgbClr val="0000FF"/>
                </a:solidFill>
                <a:latin typeface="+mn-ea"/>
                <a:ea typeface="+mn-ea"/>
              </a:rPr>
              <a:t>:</a:t>
            </a:r>
            <a:r>
              <a:rPr lang="zh-CN" altLang="en-US" sz="2400" kern="0" dirty="0">
                <a:solidFill>
                  <a:srgbClr val="0000FF"/>
                </a:solidFill>
                <a:latin typeface="+mn-ea"/>
                <a:ea typeface="+mn-ea"/>
              </a:rPr>
              <a:t>步长</a:t>
            </a:r>
            <a:r>
              <a:rPr lang="en-US" altLang="zh-CN" sz="2400" kern="0" dirty="0">
                <a:solidFill>
                  <a:srgbClr val="0000FF"/>
                </a:solidFill>
                <a:latin typeface="+mn-ea"/>
                <a:ea typeface="+mn-ea"/>
              </a:rPr>
              <a:t>:</a:t>
            </a:r>
            <a:r>
              <a:rPr lang="zh-CN" altLang="en-US" sz="2400" kern="0" dirty="0">
                <a:solidFill>
                  <a:srgbClr val="0000FF"/>
                </a:solidFill>
                <a:latin typeface="+mn-ea"/>
                <a:ea typeface="+mn-ea"/>
              </a:rPr>
              <a:t>终值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37" name="Text Box 4">
            <a:extLst>
              <a:ext uri="{FF2B5EF4-FFF2-40B4-BE49-F238E27FC236}">
                <a16:creationId xmlns:a16="http://schemas.microsoft.com/office/drawing/2014/main" xmlns="" id="{29DD79F5-3186-49CE-B5A3-9EA4E89CE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182" y="2293881"/>
            <a:ext cx="4179433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说明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步长为</a:t>
            </a:r>
            <a:r>
              <a:rPr lang="en-US" altLang="zh-CN" sz="2400" kern="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时可以省略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xmlns="" id="{8CDD5B33-F15F-4579-92BA-79EC48219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xmlns="" id="{3FAA4725-F309-4620-82C5-2DDB10072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2" name="Text Box 10">
            <a:extLst>
              <a:ext uri="{FF2B5EF4-FFF2-40B4-BE49-F238E27FC236}">
                <a16:creationId xmlns:a16="http://schemas.microsoft.com/office/drawing/2014/main" xmlns="" id="{3CD62A91-8B47-40BE-A939-AC2BDC2E06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829974"/>
            <a:ext cx="53276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1.3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定数线性采样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</a:rPr>
              <a:t>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xmlns="" id="{FA2AE4D2-6116-4254-9EA8-605341758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25" y="1291639"/>
            <a:ext cx="5488292" cy="468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用于产生起止于两点之间的</a:t>
            </a:r>
            <a:r>
              <a:rPr kumimoji="0" lang="en-US" altLang="zh-CN" sz="24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个数据点。</a:t>
            </a:r>
          </a:p>
        </p:txBody>
      </p:sp>
      <p:sp>
        <p:nvSpPr>
          <p:cNvPr id="24" name="Text Box 7">
            <a:extLst>
              <a:ext uri="{FF2B5EF4-FFF2-40B4-BE49-F238E27FC236}">
                <a16:creationId xmlns:a16="http://schemas.microsoft.com/office/drawing/2014/main" xmlns="" id="{FB5EB1AA-C2A2-4142-BFE1-E7AAD8CCE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2279" y="2421659"/>
            <a:ext cx="2559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b=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 err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linspace</a:t>
            </a:r>
            <a:r>
              <a:rPr lang="en-US" altLang="zh-CN" sz="2400" b="1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(1,6,6)</a:t>
            </a:r>
            <a:r>
              <a:rPr lang="en-US" altLang="zh-CN" sz="240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xmlns="" id="{7328ECB5-4567-4C25-B534-D30956327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8549" y="1807628"/>
            <a:ext cx="386110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格式：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 = 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linspace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a,b,n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xmlns="" id="{97CAECA6-B25B-4127-A165-E29011CF1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A400F8F4-9526-4045-B22F-013A3C1C3F4E}"/>
              </a:ext>
            </a:extLst>
          </p:cNvPr>
          <p:cNvSpPr/>
          <p:nvPr/>
        </p:nvSpPr>
        <p:spPr>
          <a:xfrm>
            <a:off x="4674626" y="2544079"/>
            <a:ext cx="941283" cy="3568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000"/>
              </a:lnSpc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b=1:6</a:t>
            </a:r>
          </a:p>
        </p:txBody>
      </p:sp>
      <p:sp>
        <p:nvSpPr>
          <p:cNvPr id="3" name="箭头: 左右 2">
            <a:extLst>
              <a:ext uri="{FF2B5EF4-FFF2-40B4-BE49-F238E27FC236}">
                <a16:creationId xmlns:a16="http://schemas.microsoft.com/office/drawing/2014/main" xmlns="" id="{45EC2CFE-4C3C-4E8B-B9AF-D764D7F37033}"/>
              </a:ext>
            </a:extLst>
          </p:cNvPr>
          <p:cNvSpPr/>
          <p:nvPr/>
        </p:nvSpPr>
        <p:spPr>
          <a:xfrm>
            <a:off x="4170436" y="2580483"/>
            <a:ext cx="504190" cy="144016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xmlns="" id="{FA2AE4D2-6116-4254-9EA8-6053417583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6908" y="3013154"/>
            <a:ext cx="3600400" cy="502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说明：</a:t>
            </a:r>
            <a:r>
              <a:rPr kumimoji="0" lang="en-US" altLang="zh-CN" sz="24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的默认值是</a:t>
            </a: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100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689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" grpId="0"/>
      <p:bldP spid="3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xmlns="" id="{74AA7FF2-3985-412F-908F-C3519FA08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4" name="Text Box 10">
            <a:extLst>
              <a:ext uri="{FF2B5EF4-FFF2-40B4-BE49-F238E27FC236}">
                <a16:creationId xmlns:a16="http://schemas.microsoft.com/office/drawing/2014/main" xmlns="" id="{B04C8CDA-DD3B-48C0-B549-419EA3AA3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710" y="734211"/>
            <a:ext cx="53276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1.4 </a:t>
            </a:r>
            <a:r>
              <a:rPr lang="zh-CN" altLang="en-US" sz="2400" b="1" kern="0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拼接法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xmlns="" id="{997E529D-F00E-4304-B817-3E232AD7F6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1189251"/>
            <a:ext cx="6121400" cy="1683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利用已有的一维数组创建新的一维数组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。将两个行向量或列向量拼接为一个行向量或列向量，也可以利用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冒号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抽取其中的部分数据生成新的一维数组。</a:t>
            </a:r>
          </a:p>
        </p:txBody>
      </p:sp>
      <p:sp>
        <p:nvSpPr>
          <p:cNvPr id="16" name="Text Box 7">
            <a:extLst>
              <a:ext uri="{FF2B5EF4-FFF2-40B4-BE49-F238E27FC236}">
                <a16:creationId xmlns:a16="http://schemas.microsoft.com/office/drawing/2014/main" xmlns="" id="{0CB30733-C0C0-4405-88C2-C6708FD61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4770" y="3259436"/>
            <a:ext cx="18611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a3=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[a1,a2]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xmlns="" id="{B5ED52B9-7079-443A-ABBD-F936E569D2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390" y="2847495"/>
            <a:ext cx="50405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+mn-ea"/>
                <a:ea typeface="+mn-ea"/>
              </a:rPr>
              <a:t>行向量拼接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：用方括号和逗号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xmlns="" id="{86B4C822-3615-4CDC-AAD4-8339194BB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390" y="3689228"/>
            <a:ext cx="462601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+mn-ea"/>
                <a:ea typeface="+mn-ea"/>
              </a:rPr>
              <a:t>列向量拼接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：用方括号和分号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xmlns="" id="{77C1D88E-DED8-40D6-A606-9BFEE6A25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4770" y="4092904"/>
            <a:ext cx="19331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b3=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[b1;b2]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1" name="Text Box 4">
            <a:extLst>
              <a:ext uri="{FF2B5EF4-FFF2-40B4-BE49-F238E27FC236}">
                <a16:creationId xmlns:a16="http://schemas.microsoft.com/office/drawing/2014/main" xmlns="" id="{6A0FCF7C-5720-4196-BB4A-AF6762071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2391" y="4536910"/>
            <a:ext cx="32420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kern="0" dirty="0">
                <a:solidFill>
                  <a:srgbClr val="FF0000"/>
                </a:solidFill>
                <a:latin typeface="+mn-ea"/>
                <a:ea typeface="+mn-ea"/>
              </a:rPr>
              <a:t>向量的抽取</a:t>
            </a:r>
            <a:r>
              <a:rPr lang="zh-CN" altLang="en-US" sz="2400" kern="0" dirty="0">
                <a:solidFill>
                  <a:srgbClr val="000000"/>
                </a:solidFill>
                <a:latin typeface="+mn-ea"/>
                <a:ea typeface="+mn-ea"/>
              </a:rPr>
              <a:t>：用冒号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2" name="Text Box 7">
            <a:extLst>
              <a:ext uri="{FF2B5EF4-FFF2-40B4-BE49-F238E27FC236}">
                <a16:creationId xmlns:a16="http://schemas.microsoft.com/office/drawing/2014/main" xmlns="" id="{2EE283F5-C9F7-4EBA-889E-826CEB751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4770" y="4938545"/>
            <a:ext cx="255965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a4=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a3(1:2:end)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3" name="Text Box 4">
            <a:extLst>
              <a:ext uri="{FF2B5EF4-FFF2-40B4-BE49-F238E27FC236}">
                <a16:creationId xmlns:a16="http://schemas.microsoft.com/office/drawing/2014/main" xmlns="" id="{F1A17B0E-5C0F-4E30-BB6C-96BF5ABC1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3733" y="5382551"/>
            <a:ext cx="432048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auto">
              <a:spcBef>
                <a:spcPct val="50000"/>
              </a:spcBef>
              <a:spcAft>
                <a:spcPts val="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抽取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中的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奇数</a:t>
            </a:r>
            <a:r>
              <a:rPr lang="zh-CN" altLang="en-US" sz="2400" kern="0" dirty="0" smtClean="0">
                <a:solidFill>
                  <a:srgbClr val="000000"/>
                </a:solidFill>
                <a:latin typeface="+mn-ea"/>
                <a:ea typeface="+mn-ea"/>
              </a:rPr>
              <a:t>位置的数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组成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新的数组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xmlns="" id="{0408D4A6-2FF6-4298-A203-DC3559CDD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78350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>
            <a:extLst>
              <a:ext uri="{FF2B5EF4-FFF2-40B4-BE49-F238E27FC236}">
                <a16:creationId xmlns:a16="http://schemas.microsoft.com/office/drawing/2014/main" xmlns="" id="{5052A766-09DF-4024-979D-2F95A63C1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3" name="Text Box 10">
            <a:extLst>
              <a:ext uri="{FF2B5EF4-FFF2-40B4-BE49-F238E27FC236}">
                <a16:creationId xmlns:a16="http://schemas.microsoft.com/office/drawing/2014/main" xmlns="" id="{DF1A31E7-94DC-401A-A7A5-5CBD283A0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477" y="872539"/>
            <a:ext cx="1892976" cy="34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2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 smtClean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例</a:t>
            </a:r>
            <a:r>
              <a:rPr lang="en-US" altLang="zh-CN" sz="2400" b="1" kern="0" dirty="0" smtClean="0">
                <a:solidFill>
                  <a:srgbClr val="C0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2.2-1</a:t>
            </a:r>
          </a:p>
        </p:txBody>
      </p:sp>
      <p:sp>
        <p:nvSpPr>
          <p:cNvPr id="22" name="Rectangle 4">
            <a:extLst>
              <a:ext uri="{FF2B5EF4-FFF2-40B4-BE49-F238E27FC236}">
                <a16:creationId xmlns:a16="http://schemas.microsoft.com/office/drawing/2014/main" xmlns="" id="{B5FD543E-0766-4CC3-80E2-6EDFBB048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一维数组（向量）的创建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E26EFF94-F44A-4CE6-AC7F-BF385CD36CFC}"/>
              </a:ext>
            </a:extLst>
          </p:cNvPr>
          <p:cNvGrpSpPr/>
          <p:nvPr/>
        </p:nvGrpSpPr>
        <p:grpSpPr>
          <a:xfrm>
            <a:off x="2654515" y="2332468"/>
            <a:ext cx="2961394" cy="3274161"/>
            <a:chOff x="1858766" y="2350167"/>
            <a:chExt cx="2961394" cy="3274161"/>
          </a:xfrm>
        </p:grpSpPr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xmlns="" id="{15AA1952-1A33-449F-AF1D-80451021D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2350167"/>
              <a:ext cx="2559650" cy="15696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x1=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1:3</a:t>
              </a:r>
            </a:p>
            <a:p>
              <a:pPr>
                <a:spcBef>
                  <a:spcPct val="50000"/>
                </a:spcBef>
              </a:pP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  <a:p>
              <a:pPr>
                <a:spcBef>
                  <a:spcPct val="50000"/>
                </a:spcBef>
              </a:pP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xmlns="" id="{B34E2C19-A02B-4D7C-8D30-0C6825A4E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766" y="3148693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[x1,x2]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4" name="Text Box 7">
              <a:extLst>
                <a:ext uri="{FF2B5EF4-FFF2-40B4-BE49-F238E27FC236}">
                  <a16:creationId xmlns:a16="http://schemas.microsoft.com/office/drawing/2014/main" xmlns="" id="{C2EE7E59-DEFD-41A0-BB74-4F8E86E71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2736733"/>
              <a:ext cx="29523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x2=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linspace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(5,20,4)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5" name="Text Box 7">
              <a:extLst>
                <a:ext uri="{FF2B5EF4-FFF2-40B4-BE49-F238E27FC236}">
                  <a16:creationId xmlns:a16="http://schemas.microsoft.com/office/drawing/2014/main" xmlns="" id="{53E5DCFA-2C89-4C9D-B5C3-5F45415913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3546468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y1=[1:3</a:t>
              </a:r>
              <a:r>
                <a:rPr lang="en-US" altLang="zh-CN" sz="24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]</a:t>
              </a:r>
              <a:r>
                <a:rPr lang="en-US" altLang="zh-CN" sz="2400" b="1" kern="0" dirty="0" smtClean="0">
                  <a:solidFill>
                    <a:srgbClr val="0000FF"/>
                  </a:solidFill>
                  <a:latin typeface="+mn-ea"/>
                  <a:sym typeface="Symbol" panose="05050102010706020507" pitchFamily="18" charset="2"/>
                </a:rPr>
                <a:t>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6" name="Text Box 7">
              <a:extLst>
                <a:ext uri="{FF2B5EF4-FFF2-40B4-BE49-F238E27FC236}">
                  <a16:creationId xmlns:a16="http://schemas.microsoft.com/office/drawing/2014/main" xmlns="" id="{EA47FABE-7738-405D-82CA-8723F9ABF1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3951244"/>
              <a:ext cx="29523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y2=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 err="1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linspace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(5,20,4</a:t>
              </a:r>
              <a:r>
                <a:rPr lang="en-US" altLang="zh-CN" sz="2400" b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)</a:t>
              </a:r>
              <a:r>
                <a:rPr lang="en-US" altLang="zh-CN" sz="2400" b="1" kern="0" dirty="0" smtClean="0">
                  <a:solidFill>
                    <a:srgbClr val="0000FF"/>
                  </a:solidFill>
                  <a:latin typeface="+mn-ea"/>
                  <a:sym typeface="Symbol" panose="05050102010706020507" pitchFamily="18" charset="2"/>
                </a:rPr>
                <a:t></a:t>
              </a:r>
              <a:r>
                <a:rPr lang="en-US" altLang="zh-CN" sz="2400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7" name="Text Box 7">
              <a:extLst>
                <a:ext uri="{FF2B5EF4-FFF2-40B4-BE49-F238E27FC236}">
                  <a16:creationId xmlns:a16="http://schemas.microsoft.com/office/drawing/2014/main" xmlns="" id="{DD668822-9654-41A1-B87D-817C335611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4356287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[y1;y2]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8" name="Text Box 7">
              <a:extLst>
                <a:ext uri="{FF2B5EF4-FFF2-40B4-BE49-F238E27FC236}">
                  <a16:creationId xmlns:a16="http://schemas.microsoft.com/office/drawing/2014/main" xmlns="" id="{AAFE48E9-95C4-4F18-A976-C7B9113D7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7832" y="4777154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x3=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1:2:end)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29" name="Text Box 7">
              <a:extLst>
                <a:ext uri="{FF2B5EF4-FFF2-40B4-BE49-F238E27FC236}">
                  <a16:creationId xmlns:a16="http://schemas.microsoft.com/office/drawing/2014/main" xmlns="" id="{E486EA6D-49E1-4357-B5EE-D219CADB8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8766" y="5162663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y3=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y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1:2:end)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14" name="Text Box 10">
            <a:extLst>
              <a:ext uri="{FF2B5EF4-FFF2-40B4-BE49-F238E27FC236}">
                <a16:creationId xmlns:a16="http://schemas.microsoft.com/office/drawing/2014/main" xmlns="" id="{DF1A31E7-94DC-401A-A7A5-5CBD283A0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605" y="785840"/>
            <a:ext cx="5472608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 smtClean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创建</a:t>
            </a:r>
            <a:r>
              <a:rPr lang="zh-CN" altLang="en-US" sz="2400" b="1" kern="0" dirty="0">
                <a:solidFill>
                  <a:schemeClr val="bg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两个不同的一维行向量和列向量，并利用这两个向量拼接成一个新的行向量和列向量，然后再由新向量中的奇数位置元素组成新的向量。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85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xmlns="" id="{6AB0E6E5-F06F-4DE3-B18B-DE5317DDC7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14" name="Text Box 4">
            <a:extLst>
              <a:ext uri="{FF2B5EF4-FFF2-40B4-BE49-F238E27FC236}">
                <a16:creationId xmlns:a16="http://schemas.microsoft.com/office/drawing/2014/main" xmlns="" id="{CB7D6333-5C51-4D01-A733-5EDC5B9B0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309" y="828432"/>
            <a:ext cx="3365544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利用圆括号和索引号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9B7D6629-D0BB-4D4D-9E67-6D16292DB1AF}"/>
              </a:ext>
            </a:extLst>
          </p:cNvPr>
          <p:cNvGrpSpPr/>
          <p:nvPr/>
        </p:nvGrpSpPr>
        <p:grpSpPr>
          <a:xfrm>
            <a:off x="1536137" y="1399694"/>
            <a:ext cx="2568716" cy="905454"/>
            <a:chOff x="1536137" y="1399694"/>
            <a:chExt cx="2568716" cy="905454"/>
          </a:xfrm>
        </p:grpSpPr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xmlns="" id="{B76A611B-AC3B-49D7-BE7D-D5DAEB297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5203" y="1399694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A=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[1 2 3 4 5]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8" name="Text Box 7">
              <a:extLst>
                <a:ext uri="{FF2B5EF4-FFF2-40B4-BE49-F238E27FC236}">
                  <a16:creationId xmlns:a16="http://schemas.microsoft.com/office/drawing/2014/main" xmlns="" id="{5FCF04E2-5DCE-4A94-8F5A-2473EBCD8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137" y="1843483"/>
              <a:ext cx="255965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a3=A(3)</a:t>
              </a:r>
              <a:r>
                <a:rPr lang="en-US" altLang="zh-CN" sz="24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endPara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22" name="Rectangle 4">
            <a:extLst>
              <a:ext uri="{FF2B5EF4-FFF2-40B4-BE49-F238E27FC236}">
                <a16:creationId xmlns:a16="http://schemas.microsoft.com/office/drawing/2014/main" xmlns="" id="{3F0233B0-D997-459E-BB48-F8340BAE8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299" y="152254"/>
            <a:ext cx="5327610" cy="676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kern="0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一维数组中元素的提取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xmlns="" id="{4AB54885-70A7-47D0-B9E8-B6D269F873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2181" y="1857230"/>
            <a:ext cx="2281565" cy="452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提取第</a:t>
            </a:r>
            <a:r>
              <a:rPr lang="en-US" altLang="zh-CN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3</a:t>
            </a:r>
            <a:r>
              <a:rPr lang="zh-CN" altLang="en-US" sz="2400" kern="0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个元素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9559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7071B5FD-B8B7-49E7-84DE-0A4A9029C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13679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245</TotalTime>
  <Words>430</Words>
  <Application>Microsoft Office PowerPoint</Application>
  <PresentationFormat>自定义</PresentationFormat>
  <Paragraphs>53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华文楷体</vt:lpstr>
      <vt:lpstr>楷体_GB2312</vt:lpstr>
      <vt:lpstr>宋体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327</cp:revision>
  <dcterms:created xsi:type="dcterms:W3CDTF">2016-01-02T09:31:00Z</dcterms:created>
  <dcterms:modified xsi:type="dcterms:W3CDTF">2019-02-26T13:34:50Z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